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70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B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54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8A9C-58B2-5092-E728-5DE88A34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029BB-8654-9E33-D833-EE03AFC00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04807-1EB4-B643-974B-B50520833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4B65B-D2C4-AE47-A381-9B68A5788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9428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noProof="0" dirty="0">
                <a:solidFill>
                  <a:srgbClr val="FDB515"/>
                </a:solidFill>
                <a:latin typeface="Calibri"/>
              </a:rPr>
              <a:t>POLECON 156  ·  DISCUSSION SECTION  · 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7325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4400" b="1" noProof="0" dirty="0">
                <a:solidFill>
                  <a:srgbClr val="FFFFFF"/>
                </a:solidFill>
                <a:latin typeface="Cambria"/>
              </a:rPr>
              <a:t>Getting Ready for the Midterm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0" noProof="0" dirty="0">
                <a:solidFill>
                  <a:srgbClr val="CADCFC"/>
                </a:solidFill>
                <a:latin typeface="Calibri"/>
              </a:rPr>
              <a:t>Silvia Díaz de 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CADCFC"/>
                </a:solidFill>
                <a:latin typeface="Calibri"/>
              </a:rPr>
              <a:t>DIS 101 · Fri 9/25 · 10:10 · 106 </a:t>
            </a:r>
            <a:r>
              <a:rPr lang="en-US" sz="1600" b="0" noProof="0" dirty="0" err="1">
                <a:solidFill>
                  <a:srgbClr val="CADCFC"/>
                </a:solidFill>
                <a:latin typeface="Calibri"/>
              </a:rPr>
              <a:t>Dwinelle</a:t>
            </a:r>
            <a:endParaRPr lang="en-US" sz="1600" b="0" noProof="0" dirty="0">
              <a:solidFill>
                <a:srgbClr val="CADCFC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CADCFC"/>
                </a:solidFill>
                <a:latin typeface="Calibri"/>
              </a:rPr>
              <a:t>DIS 102 · Fri 9/25 · 11:10 · 333 UAB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707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Agenda for today: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C68F89-60FE-4FAE-2DD6-90659864E92E}"/>
              </a:ext>
            </a:extLst>
          </p:cNvPr>
          <p:cNvSpPr/>
          <p:nvPr/>
        </p:nvSpPr>
        <p:spPr>
          <a:xfrm>
            <a:off x="640080" y="1535664"/>
            <a:ext cx="10909348" cy="749808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C684C7-6755-3263-3903-42976BE234B6}"/>
              </a:ext>
            </a:extLst>
          </p:cNvPr>
          <p:cNvSpPr txBox="1"/>
          <p:nvPr/>
        </p:nvSpPr>
        <p:spPr>
          <a:xfrm>
            <a:off x="731520" y="1645392"/>
            <a:ext cx="166670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mbria"/>
              </a:rPr>
              <a:t>1.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11FDAA-3F55-6BE9-033A-A036CEAD346F}"/>
              </a:ext>
            </a:extLst>
          </p:cNvPr>
          <p:cNvSpPr txBox="1"/>
          <p:nvPr/>
        </p:nvSpPr>
        <p:spPr>
          <a:xfrm>
            <a:off x="1737359" y="1663680"/>
            <a:ext cx="8939605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1E2761"/>
                </a:solidFill>
                <a:latin typeface="Calibri"/>
              </a:rPr>
              <a:t>Learning</a:t>
            </a:r>
            <a:r>
              <a:rPr lang="en-US" sz="1700" noProof="0" dirty="0">
                <a:solidFill>
                  <a:srgbClr val="1E2761"/>
                </a:solidFill>
                <a:latin typeface="Calibri"/>
              </a:rPr>
              <a:t>s from last week</a:t>
            </a:r>
            <a:endParaRPr lang="en-US" sz="1700" b="0" noProof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15BF92-1FCE-8E63-09D0-F4EA549D4794}"/>
              </a:ext>
            </a:extLst>
          </p:cNvPr>
          <p:cNvSpPr/>
          <p:nvPr/>
        </p:nvSpPr>
        <p:spPr>
          <a:xfrm>
            <a:off x="640080" y="2395200"/>
            <a:ext cx="10909348" cy="749808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5B6E6B-8DAB-15E7-19A3-8231889B7DCB}"/>
              </a:ext>
            </a:extLst>
          </p:cNvPr>
          <p:cNvSpPr txBox="1"/>
          <p:nvPr/>
        </p:nvSpPr>
        <p:spPr>
          <a:xfrm>
            <a:off x="731520" y="2504928"/>
            <a:ext cx="166670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mbria"/>
              </a:rPr>
              <a:t>2.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D076A3-6DC0-9B90-DD11-E60E0E77413D}"/>
              </a:ext>
            </a:extLst>
          </p:cNvPr>
          <p:cNvSpPr txBox="1"/>
          <p:nvPr/>
        </p:nvSpPr>
        <p:spPr>
          <a:xfrm>
            <a:off x="1737359" y="2523216"/>
            <a:ext cx="8939605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1E2761"/>
                </a:solidFill>
                <a:latin typeface="Calibri"/>
              </a:rPr>
              <a:t>Midterm: logistics and the big themes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0B485D-2596-E13D-EE3A-F31E2586D832}"/>
              </a:ext>
            </a:extLst>
          </p:cNvPr>
          <p:cNvSpPr/>
          <p:nvPr/>
        </p:nvSpPr>
        <p:spPr>
          <a:xfrm>
            <a:off x="640080" y="3254736"/>
            <a:ext cx="10909348" cy="749808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AC6BBE-BC98-D14D-4067-365EB918722E}"/>
              </a:ext>
            </a:extLst>
          </p:cNvPr>
          <p:cNvSpPr txBox="1"/>
          <p:nvPr/>
        </p:nvSpPr>
        <p:spPr>
          <a:xfrm>
            <a:off x="731520" y="3364464"/>
            <a:ext cx="166670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mbria"/>
              </a:rPr>
              <a:t>3.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92A39-7D3B-16EF-F43C-DE0CAFD5F22C}"/>
              </a:ext>
            </a:extLst>
          </p:cNvPr>
          <p:cNvSpPr txBox="1"/>
          <p:nvPr/>
        </p:nvSpPr>
        <p:spPr>
          <a:xfrm>
            <a:off x="1737359" y="3382752"/>
            <a:ext cx="8939605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1E2761"/>
                </a:solidFill>
                <a:latin typeface="Calibri"/>
              </a:rPr>
              <a:t>Written reflection (open book, handwritten)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A9B9A3-D371-3474-8F47-845187C4A84D}"/>
              </a:ext>
            </a:extLst>
          </p:cNvPr>
          <p:cNvSpPr/>
          <p:nvPr/>
        </p:nvSpPr>
        <p:spPr>
          <a:xfrm>
            <a:off x="640080" y="4114272"/>
            <a:ext cx="10909348" cy="749808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091843-6652-8490-EC71-BE771536A5B6}"/>
              </a:ext>
            </a:extLst>
          </p:cNvPr>
          <p:cNvSpPr txBox="1"/>
          <p:nvPr/>
        </p:nvSpPr>
        <p:spPr>
          <a:xfrm>
            <a:off x="731520" y="4224000"/>
            <a:ext cx="166670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mbria"/>
              </a:rPr>
              <a:t>4.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9D7928-4F1F-84FF-B0AF-65B12F98528D}"/>
              </a:ext>
            </a:extLst>
          </p:cNvPr>
          <p:cNvSpPr txBox="1"/>
          <p:nvPr/>
        </p:nvSpPr>
        <p:spPr>
          <a:xfrm>
            <a:off x="1737359" y="4242287"/>
            <a:ext cx="8939605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1E2761"/>
                </a:solidFill>
                <a:latin typeface="Calibri"/>
              </a:rPr>
              <a:t>Practice essay questions in pairs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B4C1F5-47B2-2E4E-C6FD-CB97DA6FD75D}"/>
              </a:ext>
            </a:extLst>
          </p:cNvPr>
          <p:cNvSpPr/>
          <p:nvPr/>
        </p:nvSpPr>
        <p:spPr>
          <a:xfrm>
            <a:off x="640080" y="4973808"/>
            <a:ext cx="10909348" cy="749808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31E903-BF7A-FFEB-9948-AFE0239946BD}"/>
              </a:ext>
            </a:extLst>
          </p:cNvPr>
          <p:cNvSpPr txBox="1"/>
          <p:nvPr/>
        </p:nvSpPr>
        <p:spPr>
          <a:xfrm>
            <a:off x="731520" y="5083536"/>
            <a:ext cx="1666706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mbria"/>
              </a:rPr>
              <a:t>5.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EB7C27-CEAE-39C9-4FDC-9079A2906F62}"/>
              </a:ext>
            </a:extLst>
          </p:cNvPr>
          <p:cNvSpPr txBox="1"/>
          <p:nvPr/>
        </p:nvSpPr>
        <p:spPr>
          <a:xfrm>
            <a:off x="1737359" y="5101824"/>
            <a:ext cx="8939605" cy="31701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1E2761"/>
                </a:solidFill>
                <a:latin typeface="Calibri"/>
              </a:rPr>
              <a:t>Wrap-up: teams, deadlines,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59A91-64F4-26B2-37B4-F53A58E1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21215B-00AC-236B-631E-13C5E995B9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FFC087-8238-B9FD-53A0-9C74AE88754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E97DB-47F1-8F6E-3434-24556E433F1D}"/>
              </a:ext>
            </a:extLst>
          </p:cNvPr>
          <p:cNvSpPr txBox="1"/>
          <p:nvPr/>
        </p:nvSpPr>
        <p:spPr>
          <a:xfrm>
            <a:off x="640080" y="731520"/>
            <a:ext cx="109728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1. What Oliver and Alejandro told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6D0AD7-5857-C4F5-4FFE-A04CFA8C63FE}"/>
              </a:ext>
            </a:extLst>
          </p:cNvPr>
          <p:cNvSpPr/>
          <p:nvPr/>
        </p:nvSpPr>
        <p:spPr>
          <a:xfrm>
            <a:off x="640080" y="1737360"/>
            <a:ext cx="5394960" cy="214884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AE7B4-A53E-49B0-7E85-9600583214FE}"/>
              </a:ext>
            </a:extLst>
          </p:cNvPr>
          <p:cNvSpPr/>
          <p:nvPr/>
        </p:nvSpPr>
        <p:spPr>
          <a:xfrm>
            <a:off x="640080" y="1737360"/>
            <a:ext cx="53949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C28F17-DFBE-F42D-B721-9BC149179346}"/>
              </a:ext>
            </a:extLst>
          </p:cNvPr>
          <p:cNvSpPr txBox="1"/>
          <p:nvPr/>
        </p:nvSpPr>
        <p:spPr>
          <a:xfrm>
            <a:off x="777240" y="1901952"/>
            <a:ext cx="5120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A first job is just a first job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05E22-D7D1-A3EE-9450-6F663EDDD941}"/>
              </a:ext>
            </a:extLst>
          </p:cNvPr>
          <p:cNvSpPr txBox="1"/>
          <p:nvPr/>
        </p:nvSpPr>
        <p:spPr>
          <a:xfrm>
            <a:off x="777240" y="2377439"/>
            <a:ext cx="512064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5B6472"/>
                </a:solidFill>
                <a:latin typeface="Calibri"/>
              </a:rPr>
              <a:t>It is not life-defining. Internships are valid entry points, even after graduation.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07FE4-B9FC-1D38-6D16-D2A74949FE9A}"/>
              </a:ext>
            </a:extLst>
          </p:cNvPr>
          <p:cNvSpPr/>
          <p:nvPr/>
        </p:nvSpPr>
        <p:spPr>
          <a:xfrm>
            <a:off x="6217920" y="1737360"/>
            <a:ext cx="5394960" cy="214884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8A8D4E-849B-ED7D-9C0C-444F9BE170B7}"/>
              </a:ext>
            </a:extLst>
          </p:cNvPr>
          <p:cNvSpPr/>
          <p:nvPr/>
        </p:nvSpPr>
        <p:spPr>
          <a:xfrm>
            <a:off x="6217920" y="1737360"/>
            <a:ext cx="53949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99502A-0506-DADA-469C-9FAB2E960395}"/>
              </a:ext>
            </a:extLst>
          </p:cNvPr>
          <p:cNvSpPr txBox="1"/>
          <p:nvPr/>
        </p:nvSpPr>
        <p:spPr>
          <a:xfrm>
            <a:off x="6355080" y="1901952"/>
            <a:ext cx="5120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Interviews test fit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4DBAE-A105-14B1-DEE6-234D90F817E9}"/>
              </a:ext>
            </a:extLst>
          </p:cNvPr>
          <p:cNvSpPr txBox="1"/>
          <p:nvPr/>
        </p:nvSpPr>
        <p:spPr>
          <a:xfrm>
            <a:off x="6355080" y="2377439"/>
            <a:ext cx="512064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5B6472"/>
                </a:solidFill>
                <a:latin typeface="Calibri"/>
              </a:rPr>
              <a:t>Getting the interview shows you're capable. The real question: can I see myself working with this person every day?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598361-7314-A70E-2C72-3E65320DF4BE}"/>
              </a:ext>
            </a:extLst>
          </p:cNvPr>
          <p:cNvSpPr/>
          <p:nvPr/>
        </p:nvSpPr>
        <p:spPr>
          <a:xfrm>
            <a:off x="640080" y="4069079"/>
            <a:ext cx="5394960" cy="214884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36D545-EDC0-9CB1-5915-E7BC3A49B1A6}"/>
              </a:ext>
            </a:extLst>
          </p:cNvPr>
          <p:cNvSpPr/>
          <p:nvPr/>
        </p:nvSpPr>
        <p:spPr>
          <a:xfrm>
            <a:off x="640080" y="4069079"/>
            <a:ext cx="53949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39CA65-6748-A999-A1B6-A09486966F75}"/>
              </a:ext>
            </a:extLst>
          </p:cNvPr>
          <p:cNvSpPr txBox="1"/>
          <p:nvPr/>
        </p:nvSpPr>
        <p:spPr>
          <a:xfrm>
            <a:off x="777240" y="4233671"/>
            <a:ext cx="5120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Build relationships authentically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7482F-1AB7-6623-4F17-266007B94E00}"/>
              </a:ext>
            </a:extLst>
          </p:cNvPr>
          <p:cNvSpPr txBox="1"/>
          <p:nvPr/>
        </p:nvSpPr>
        <p:spPr>
          <a:xfrm>
            <a:off x="777240" y="4709159"/>
            <a:ext cx="512064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5B6472"/>
                </a:solidFill>
                <a:latin typeface="Calibri"/>
              </a:rPr>
              <a:t>Get to know people before asking what they do or how they got the job.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28EFC4-C3B5-EE43-DEEE-F9FD216B4C5C}"/>
              </a:ext>
            </a:extLst>
          </p:cNvPr>
          <p:cNvSpPr/>
          <p:nvPr/>
        </p:nvSpPr>
        <p:spPr>
          <a:xfrm>
            <a:off x="6217920" y="4069079"/>
            <a:ext cx="5394960" cy="214884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3E08A-4AE1-EB07-8570-0660B8D305FB}"/>
              </a:ext>
            </a:extLst>
          </p:cNvPr>
          <p:cNvSpPr/>
          <p:nvPr/>
        </p:nvSpPr>
        <p:spPr>
          <a:xfrm>
            <a:off x="6217920" y="4069079"/>
            <a:ext cx="53949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7A5501-38AC-CAEA-6A7F-EB645E7D3B70}"/>
              </a:ext>
            </a:extLst>
          </p:cNvPr>
          <p:cNvSpPr txBox="1"/>
          <p:nvPr/>
        </p:nvSpPr>
        <p:spPr>
          <a:xfrm>
            <a:off x="6355080" y="4233671"/>
            <a:ext cx="5120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Put yourself out there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6B9CB5-0F8E-D462-E73D-78B150FC9CFE}"/>
              </a:ext>
            </a:extLst>
          </p:cNvPr>
          <p:cNvSpPr txBox="1"/>
          <p:nvPr/>
        </p:nvSpPr>
        <p:spPr>
          <a:xfrm>
            <a:off x="6355080" y="4709159"/>
            <a:ext cx="5120640" cy="1417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700" b="0" noProof="0" dirty="0">
                <a:solidFill>
                  <a:srgbClr val="5B6472"/>
                </a:solidFill>
                <a:latin typeface="Calibri"/>
              </a:rPr>
              <a:t>Closed mouths don't get fed. Your friends and community become your network.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CCF32-754D-9F70-70B9-F13BC0E3FE00}"/>
              </a:ext>
            </a:extLst>
          </p:cNvPr>
          <p:cNvSpPr txBox="1"/>
          <p:nvPr/>
        </p:nvSpPr>
        <p:spPr>
          <a:xfrm>
            <a:off x="640080" y="365760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1: LEARNINGS</a:t>
            </a:r>
          </a:p>
        </p:txBody>
      </p:sp>
    </p:spTree>
    <p:extLst>
      <p:ext uri="{BB962C8B-B14F-4D97-AF65-F5344CB8AC3E}">
        <p14:creationId xmlns:p14="http://schemas.microsoft.com/office/powerpoint/2010/main" val="143490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1. Attendance Poll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091BB8-3312-28BC-1C38-22E96C19006E}"/>
              </a:ext>
            </a:extLst>
          </p:cNvPr>
          <p:cNvSpPr/>
          <p:nvPr/>
        </p:nvSpPr>
        <p:spPr>
          <a:xfrm>
            <a:off x="640080" y="1737360"/>
            <a:ext cx="3931920" cy="4206240"/>
          </a:xfrm>
          <a:prstGeom prst="rect">
            <a:avLst/>
          </a:prstGeom>
          <a:solidFill>
            <a:srgbClr val="002060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D6345A-5303-D7EF-449C-777246048650}"/>
              </a:ext>
            </a:extLst>
          </p:cNvPr>
          <p:cNvSpPr/>
          <p:nvPr/>
        </p:nvSpPr>
        <p:spPr>
          <a:xfrm>
            <a:off x="640080" y="1737360"/>
            <a:ext cx="393192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4601E2-50A0-0232-7D78-77324E5554D8}"/>
              </a:ext>
            </a:extLst>
          </p:cNvPr>
          <p:cNvSpPr txBox="1"/>
          <p:nvPr/>
        </p:nvSpPr>
        <p:spPr>
          <a:xfrm>
            <a:off x="777240" y="1901952"/>
            <a:ext cx="365760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1" noProof="0" dirty="0">
                <a:solidFill>
                  <a:schemeClr val="bg1"/>
                </a:solidFill>
                <a:latin typeface="Cambria"/>
              </a:rPr>
              <a:t>Check 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60792E-A1D8-453F-B9EA-B6AB9E4F10F7}"/>
              </a:ext>
            </a:extLst>
          </p:cNvPr>
          <p:cNvSpPr txBox="1"/>
          <p:nvPr/>
        </p:nvSpPr>
        <p:spPr>
          <a:xfrm>
            <a:off x="777240" y="2377439"/>
            <a:ext cx="3657600" cy="205594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0" noProof="0" dirty="0">
                <a:solidFill>
                  <a:schemeClr val="bg1"/>
                </a:solidFill>
                <a:latin typeface="Calibri"/>
              </a:rPr>
              <a:t>Join the attendance poll now:</a:t>
            </a:r>
            <a:r>
              <a:rPr lang="en-US" sz="1800" b="0" noProof="0" dirty="0">
                <a:solidFill>
                  <a:schemeClr val="bg1"/>
                </a:solidFill>
                <a:latin typeface="Calibri"/>
              </a:rPr>
              <a:t>
</a:t>
            </a:r>
            <a:r>
              <a:rPr lang="en-US" sz="2400" b="1" noProof="0" dirty="0" err="1">
                <a:solidFill>
                  <a:schemeClr val="bg1"/>
                </a:solidFill>
                <a:latin typeface="Calibri"/>
              </a:rPr>
              <a:t>pollev.com</a:t>
            </a:r>
            <a:r>
              <a:rPr lang="en-US" sz="2400" b="1" noProof="0" dirty="0">
                <a:solidFill>
                  <a:schemeClr val="bg1"/>
                </a:solidFill>
                <a:latin typeface="Calibri"/>
              </a:rPr>
              <a:t>/PE156silviaddr
</a:t>
            </a:r>
            <a:endParaRPr lang="en-US" sz="1800" b="1" noProof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DE3FD-3916-925B-C44C-DA291E5389CF}"/>
              </a:ext>
            </a:extLst>
          </p:cNvPr>
          <p:cNvSpPr txBox="1"/>
          <p:nvPr/>
        </p:nvSpPr>
        <p:spPr>
          <a:xfrm>
            <a:off x="5459506" y="2014263"/>
            <a:ext cx="6153374" cy="25483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noProof="0" dirty="0">
                <a:solidFill>
                  <a:srgbClr val="FDB516"/>
                </a:solidFill>
                <a:latin typeface="Cambria"/>
              </a:rPr>
              <a:t>Share: </a:t>
            </a:r>
            <a:r>
              <a:rPr lang="en-US" sz="3200" b="1" dirty="0">
                <a:solidFill>
                  <a:srgbClr val="002060"/>
                </a:solidFill>
              </a:rPr>
              <a:t>What is one thing you have done, or would do, to set your profile apart?</a:t>
            </a:r>
          </a:p>
          <a:p>
            <a:pPr>
              <a:spcAft>
                <a:spcPts val="600"/>
              </a:spcAft>
            </a:pPr>
            <a:r>
              <a:rPr lang="en-US" sz="3200" b="1" dirty="0">
                <a:solidFill>
                  <a:srgbClr val="FDB516"/>
                </a:solidFill>
              </a:rPr>
              <a:t>Vote: </a:t>
            </a:r>
            <a:r>
              <a:rPr lang="en-US" sz="3200" b="1" dirty="0">
                <a:solidFill>
                  <a:srgbClr val="002060"/>
                </a:solidFill>
              </a:rPr>
              <a:t>Pick your favorite option</a:t>
            </a:r>
          </a:p>
          <a:p>
            <a:pPr algn="l">
              <a:spcAft>
                <a:spcPts val="600"/>
              </a:spcAft>
            </a:pPr>
            <a:endParaRPr lang="en-US" sz="2000" b="1" noProof="0" dirty="0">
              <a:solidFill>
                <a:srgbClr val="FDB516"/>
              </a:solidFill>
              <a:latin typeface="Cambri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DF54E-991D-73E3-6D41-14C2031A325E}"/>
              </a:ext>
            </a:extLst>
          </p:cNvPr>
          <p:cNvSpPr txBox="1"/>
          <p:nvPr/>
        </p:nvSpPr>
        <p:spPr>
          <a:xfrm>
            <a:off x="640080" y="365760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1: LEARNINGS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1. Middle steps that build your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196596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Earn a certification or take a 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78308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3429000" y="178308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538728" y="196596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Join or lead a Berkeley club or initiative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327648" y="196596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Enter a competition or hackathon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39" y="178308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9006839" y="178308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116567" y="196596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Apply to scholarships or fellowships in the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49808" y="406908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Look for company challenges and initiatives, not only job posts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88620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/>
          <p:cNvSpPr/>
          <p:nvPr/>
        </p:nvSpPr>
        <p:spPr>
          <a:xfrm>
            <a:off x="3429000" y="388620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3538728" y="406908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Do pro bono work or help a nonprofit in your 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88620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/>
          <p:cNvSpPr/>
          <p:nvPr/>
        </p:nvSpPr>
        <p:spPr>
          <a:xfrm>
            <a:off x="6217920" y="388620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327648" y="406908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Attend or organize industry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39" y="3886200"/>
            <a:ext cx="2651760" cy="1874519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/>
          <p:cNvSpPr/>
          <p:nvPr/>
        </p:nvSpPr>
        <p:spPr>
          <a:xfrm>
            <a:off x="9006839" y="3886200"/>
            <a:ext cx="26517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116567" y="4069080"/>
            <a:ext cx="2432304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libri"/>
              </a:rPr>
              <a:t>Take a short internship or project in an industry company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5B6472"/>
                </a:solidFill>
                <a:latin typeface="Calibri"/>
              </a:rPr>
              <a:t>Why they work: each one gives you evidence, a story, and people who can vouch for you.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6F979F-F8D9-05AB-608D-0F5B0E8BC317}"/>
              </a:ext>
            </a:extLst>
          </p:cNvPr>
          <p:cNvSpPr txBox="1"/>
          <p:nvPr/>
        </p:nvSpPr>
        <p:spPr>
          <a:xfrm>
            <a:off x="640080" y="365760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1: LEARNINGS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FDB515"/>
                </a:solidFill>
                <a:latin typeface="Calibri"/>
              </a:rPr>
              <a:t>PART 2 · 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FFFFFF"/>
                </a:solidFill>
                <a:latin typeface="Cambria"/>
              </a:rPr>
              <a:t>Midterm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88136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4735" y="1901952"/>
            <a:ext cx="9073825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900" b="0" noProof="0" dirty="0">
                <a:solidFill>
                  <a:srgbClr val="FFFFFF"/>
                </a:solidFill>
                <a:latin typeface="Calibri"/>
              </a:rPr>
              <a:t>Thursday 10/1, during lecture, in the lecture classroom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88136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4735" y="2816352"/>
            <a:ext cx="9073825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900" b="0" noProof="0" dirty="0">
                <a:solidFill>
                  <a:srgbClr val="FFFFFF"/>
                </a:solidFill>
                <a:latin typeface="Calibri"/>
              </a:rPr>
              <a:t>Open note, open book. Bring your spiral notebook, Course Reader and The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088136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4735" y="3730752"/>
            <a:ext cx="9073825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900" b="0" noProof="0" dirty="0">
                <a:solidFill>
                  <a:srgbClr val="FFFFFF"/>
                </a:solidFill>
                <a:latin typeface="Calibri"/>
              </a:rPr>
              <a:t>About 70 minutes.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80560"/>
            <a:ext cx="1088136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" y="4645152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0358" y="4645152"/>
            <a:ext cx="9271082" cy="64017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900" b="0" noProof="0" dirty="0">
                <a:solidFill>
                  <a:srgbClr val="FFFFFF"/>
                </a:solidFill>
                <a:latin typeface="Calibri"/>
              </a:rPr>
              <a:t>1 or 2 essays on big-picture themes, not many short answers – </a:t>
            </a:r>
            <a:r>
              <a:rPr lang="en-US" sz="1900" b="1" noProof="0" dirty="0">
                <a:solidFill>
                  <a:srgbClr val="FFFFFF"/>
                </a:solidFill>
                <a:latin typeface="Calibri"/>
              </a:rPr>
              <a:t>You can actually share  a question you would like to respond and professor might ask that to the whole class!!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88136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22960" y="5559552"/>
            <a:ext cx="2011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64735" y="5559552"/>
            <a:ext cx="9073825" cy="347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900" b="0" noProof="0" dirty="0">
                <a:solidFill>
                  <a:srgbClr val="FFFFFF"/>
                </a:solidFill>
                <a:latin typeface="Calibri"/>
              </a:rPr>
              <a:t>Outline first. Quality over quantity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2 · 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Big themes from the readings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185623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Immigration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Universities draw global talent. Many students intern, get hired and stay.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9164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526280" y="185623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The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Government funded foundational tech (DARPA, ARPANET, GPS). Mazzucato's argument.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59" y="169164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/>
          <p:cNvSpPr/>
          <p:nvPr/>
        </p:nvSpPr>
        <p:spPr>
          <a:xfrm>
            <a:off x="8138159" y="169164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75319" y="185623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Labor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33172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California's non-enforcement of non-competes enabled talent mobility.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6908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/>
          <p:cNvSpPr/>
          <p:nvPr/>
        </p:nvSpPr>
        <p:spPr>
          <a:xfrm>
            <a:off x="640080" y="406908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423367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Networks &amp;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Tight networks and VC clustering near Stanford. Each generation funds the next.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06908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 22"/>
          <p:cNvSpPr/>
          <p:nvPr/>
        </p:nvSpPr>
        <p:spPr>
          <a:xfrm>
            <a:off x="4389120" y="406908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4526280" y="423367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Regional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0916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 err="1">
                <a:solidFill>
                  <a:srgbClr val="5B6472"/>
                </a:solidFill>
                <a:latin typeface="Calibri"/>
              </a:rPr>
              <a:t>Saxenian</a:t>
            </a: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: Silicon Valley (open, networked) vs. Route 128 (hierarchical, insular).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4069080"/>
            <a:ext cx="3566160" cy="219456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 26"/>
          <p:cNvSpPr/>
          <p:nvPr/>
        </p:nvSpPr>
        <p:spPr>
          <a:xfrm>
            <a:off x="8138159" y="4069080"/>
            <a:ext cx="356616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8275319" y="4233672"/>
            <a:ext cx="32918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1E2761"/>
                </a:solidFill>
                <a:latin typeface="Cambria"/>
              </a:rPr>
              <a:t>Universities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709160"/>
            <a:ext cx="3291840" cy="1463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5B6472"/>
                </a:solidFill>
                <a:latin typeface="Calibri"/>
              </a:rPr>
              <a:t>Stanford and Berkeley: proximity to faculty, peers and industry.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2 · MIDTERM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Turn a topic into a theme sentence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182880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mbria"/>
              </a:rPr>
              <a:t>A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39"/>
            <a:ext cx="50292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0" noProof="0" dirty="0">
                <a:solidFill>
                  <a:srgbClr val="5B6472"/>
                </a:solidFill>
                <a:latin typeface="Calibri"/>
              </a:rPr>
              <a:t>Immigration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03520" cy="182880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303520" cy="73152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355080" y="1901952"/>
            <a:ext cx="50292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1" noProof="0" dirty="0">
                <a:solidFill>
                  <a:srgbClr val="1E2761"/>
                </a:solidFill>
                <a:latin typeface="Cambria"/>
              </a:rPr>
              <a:t>A theme sentence (subject + verb)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77439"/>
            <a:ext cx="5029200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0" noProof="0">
                <a:solidFill>
                  <a:srgbClr val="1E2761"/>
                </a:solidFill>
                <a:latin typeface="Calibri"/>
              </a:rPr>
              <a:t>Immigrants </a:t>
            </a:r>
            <a:r>
              <a:rPr lang="en-US" sz="2000" noProof="0">
                <a:solidFill>
                  <a:srgbClr val="1E2761"/>
                </a:solidFill>
                <a:latin typeface="Calibri"/>
              </a:rPr>
              <a:t>have for decades come</a:t>
            </a:r>
            <a:r>
              <a:rPr lang="en-US" sz="2000" b="0" noProof="0">
                <a:solidFill>
                  <a:srgbClr val="1E2761"/>
                </a:solidFill>
                <a:latin typeface="Calibri"/>
              </a:rPr>
              <a:t> to Silicon Valley for education and become company founders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C9822B"/>
                </a:solidFill>
                <a:latin typeface="Calibri"/>
              </a:rPr>
              <a:t>Your turn (2 minutes, pairs). Write one theme sentence for each: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34840"/>
            <a:ext cx="1097280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•  The state</a:t>
            </a:r>
          </a:p>
          <a:p>
            <a:pPr algn="l">
              <a:spcAft>
                <a:spcPts val="10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•  Networks</a:t>
            </a:r>
          </a:p>
          <a:p>
            <a:pPr algn="l">
              <a:spcAft>
                <a:spcPts val="10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•  Silicon Valley vs. Route 128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3: WRITTEN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Week 5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lang="en-US" sz="2400" b="1" noProof="0" dirty="0">
                <a:solidFill>
                  <a:srgbClr val="1E2761"/>
                </a:solidFill>
                <a:latin typeface="Calibri"/>
              </a:rPr>
              <a:t>In class, we discussed the role law firms play in a start-up's success. In a short paragraph </a:t>
            </a:r>
            <a:r>
              <a:rPr lang="en-US" sz="2400" i="1" noProof="0" dirty="0">
                <a:solidFill>
                  <a:srgbClr val="1E2761"/>
                </a:solidFill>
                <a:latin typeface="Calibri"/>
              </a:rPr>
              <a:t>(5 lines </a:t>
            </a:r>
            <a:r>
              <a:rPr lang="en-US" sz="2400" i="1" noProof="0" dirty="0" err="1">
                <a:solidFill>
                  <a:srgbClr val="1E2761"/>
                </a:solidFill>
                <a:latin typeface="Calibri"/>
              </a:rPr>
              <a:t>aprox</a:t>
            </a:r>
            <a:r>
              <a:rPr lang="en-US" sz="2400" i="1" noProof="0" dirty="0">
                <a:solidFill>
                  <a:srgbClr val="1E2761"/>
                </a:solidFill>
                <a:latin typeface="Calibri"/>
              </a:rPr>
              <a:t>.) </a:t>
            </a:r>
            <a:r>
              <a:rPr lang="en-US" sz="2400" b="1" noProof="0" dirty="0">
                <a:solidFill>
                  <a:srgbClr val="1E2761"/>
                </a:solidFill>
                <a:latin typeface="Calibri"/>
              </a:rPr>
              <a:t>, explain what role law firms play in determining whether a start-up succeeds. Include a citation from the reading that supports one or more of your points, </a:t>
            </a:r>
            <a:r>
              <a:rPr lang="en-US" sz="2400" b="1" u="sng" noProof="0" dirty="0">
                <a:solidFill>
                  <a:srgbClr val="1E2761"/>
                </a:solidFill>
                <a:latin typeface="Calibri"/>
              </a:rPr>
              <a:t>with the page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10881360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24160" cy="13942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8 minutes, plus 2 to upload  ·  handwritten in your spiral notebook  ·  no devices</a:t>
            </a:r>
          </a:p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Open book: Course Reader and The Code allowed</a:t>
            </a:r>
          </a:p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A short paragraph (5 sentences) in ONE page.</a:t>
            </a:r>
          </a:p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Upload a photo to </a:t>
            </a:r>
            <a:r>
              <a:rPr lang="en-US" sz="1800" b="0" noProof="0" dirty="0" err="1">
                <a:solidFill>
                  <a:srgbClr val="FFFFFF"/>
                </a:solidFill>
                <a:latin typeface="Calibri"/>
              </a:rPr>
              <a:t>bCourses</a:t>
            </a: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: Week 5 Reflection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5632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4 · PRACTICE</a:t>
            </a:r>
          </a:p>
          <a:p>
            <a:pPr>
              <a:spcAft>
                <a:spcPts val="600"/>
              </a:spcAft>
            </a:pPr>
            <a:endParaRPr lang="en-US" sz="1400" b="1" noProof="0" dirty="0">
              <a:solidFill>
                <a:srgbClr val="C9822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Practice essay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0136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Why did Silicon Valley emerge and endure? Choose three factors and show how they reinforce each other.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9164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0136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Is the Silicon Valley story one of free markets alone? Use the role of the state in your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5468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6440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Compare Silicon Valley and Route 128. What explains the different outcomes?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355080" y="324612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6440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How do universities and immigration work together to build the region?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72744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How do networks shape who gets capital and opportunity?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617720"/>
            <a:ext cx="5394960" cy="13258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355080" y="4709160"/>
            <a:ext cx="54864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600" b="1" noProof="0" dirty="0">
                <a:solidFill>
                  <a:srgbClr val="C9822B"/>
                </a:solidFill>
                <a:latin typeface="Cambri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27448"/>
            <a:ext cx="4572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noProof="0" dirty="0">
                <a:solidFill>
                  <a:srgbClr val="1E2761"/>
                </a:solidFill>
                <a:latin typeface="Calibri"/>
              </a:rPr>
              <a:t>How did California's labor rules affect the region?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1E2761"/>
                </a:solidFill>
                <a:latin typeface="Cambria"/>
              </a:rPr>
              <a:t>Outline drill: 8 minutes in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8686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731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C9822B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84248"/>
            <a:ext cx="9692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Pick one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07208"/>
            <a:ext cx="10881360" cy="8686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731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C9822B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08376"/>
            <a:ext cx="9692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Write a thesis: a subject-and-verb theme sentence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31336"/>
            <a:ext cx="10881360" cy="868680"/>
          </a:xfrm>
          <a:prstGeom prst="rect">
            <a:avLst/>
          </a:prstGeom>
          <a:solidFill>
            <a:srgbClr val="F6F7FB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3922776"/>
            <a:ext cx="7315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C9822B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32504"/>
            <a:ext cx="9692640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0" noProof="0" dirty="0">
                <a:solidFill>
                  <a:srgbClr val="1E2761"/>
                </a:solidFill>
                <a:latin typeface="Calibri"/>
              </a:rPr>
              <a:t>List 2 supports, each with a reading and a page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728A04-7848-9CBB-9F81-267AED8C3259}"/>
              </a:ext>
            </a:extLst>
          </p:cNvPr>
          <p:cNvSpPr txBox="1"/>
          <p:nvPr/>
        </p:nvSpPr>
        <p:spPr>
          <a:xfrm>
            <a:off x="640080" y="365760"/>
            <a:ext cx="10515600" cy="5632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noProof="0" dirty="0">
                <a:solidFill>
                  <a:srgbClr val="C9822B"/>
                </a:solidFill>
                <a:latin typeface="Calibri"/>
              </a:rPr>
              <a:t>PART 4 · PRACTICE</a:t>
            </a:r>
          </a:p>
          <a:p>
            <a:pPr>
              <a:spcAft>
                <a:spcPts val="600"/>
              </a:spcAft>
            </a:pPr>
            <a:endParaRPr lang="en-US" sz="1400" b="1" noProof="0" dirty="0">
              <a:solidFill>
                <a:srgbClr val="C982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DB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5156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400" b="1" noProof="0" dirty="0">
                <a:solidFill>
                  <a:srgbClr val="FDB515"/>
                </a:solidFill>
                <a:latin typeface="Calibri"/>
              </a:rPr>
              <a:t>PART 5: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000" b="1" noProof="0" dirty="0">
                <a:solidFill>
                  <a:srgbClr val="FFFFFF"/>
                </a:solidFill>
                <a:latin typeface="Cambria"/>
              </a:rPr>
              <a:t>This week and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301752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Tue 9/29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002536"/>
            <a:ext cx="7498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In class</a:t>
            </a:r>
            <a:r>
              <a:rPr lang="en-US" noProof="0" dirty="0">
                <a:solidFill>
                  <a:srgbClr val="FFFFFF"/>
                </a:solidFill>
                <a:latin typeface="Calibri"/>
              </a:rPr>
              <a:t> Mid-term review</a:t>
            </a:r>
            <a:endParaRPr lang="en-US" sz="1800" b="0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108813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30175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Thu 10/1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54096"/>
            <a:ext cx="7498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Midterm in lecture. Open book and 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4087368"/>
            <a:ext cx="30175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Sun 10/11, 11pm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105656"/>
            <a:ext cx="7498079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Start-Up Proposal (Team Lead submits the Google Form)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8"/>
            <a:ext cx="30175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000" b="1" noProof="0" dirty="0">
                <a:solidFill>
                  <a:srgbClr val="FDB515"/>
                </a:solidFill>
                <a:latin typeface="Cambria"/>
              </a:rPr>
              <a:t>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157216"/>
            <a:ext cx="7498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noProof="0" dirty="0">
                <a:solidFill>
                  <a:srgbClr val="FFFFFF"/>
                </a:solidFill>
                <a:latin typeface="Calibri"/>
              </a:rPr>
              <a:t>Office hours Tue 10:00-11am &amp; 2:30–3:30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862</Words>
  <Application>Microsoft Macintosh PowerPoint</Application>
  <PresentationFormat>Widescreen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Silvia Díaz de Rada Goñi</cp:lastModifiedBy>
  <cp:revision>8</cp:revision>
  <dcterms:created xsi:type="dcterms:W3CDTF">2013-01-27T09:14:16Z</dcterms:created>
  <dcterms:modified xsi:type="dcterms:W3CDTF">2026-09-25T21:08:00Z</dcterms:modified>
  <cp:category/>
</cp:coreProperties>
</file>