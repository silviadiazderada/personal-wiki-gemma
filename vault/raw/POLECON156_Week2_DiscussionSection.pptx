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971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Week 2 review section, ~35 min of discussion + the 10-min written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Formal phrasing for the 'dark side': structural inequality / lack of diversity / self-reinforcing (vicious-cycle) advantage / myths and their paradoxes.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623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Cold-call students to name a pillar before revealing each. Live parallel for pillar 1: the war in Ukraine is now a defense-tech proving ground driving global drone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Macro origin story = federal military money channeled through research universities into private firms; not a spontaneous free-market miracle. The Stanford slide next is the institutional *mechanism*. Boom-and-bust (Ch. 6): post-Korea drawdown, early-70s aerospace bust hit Santa Clara County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cold call: 'What did Stanford do that a normal research university would not?' Answer: it fused the university with industry and the military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Reflection is graded randomly — students don't know which weeks. 4 pts (2 quality of answers, 2 thoughtfulness). Reinforce verbally: ONE page, both answers. The 'entity' wording nudges them past just naming a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attendance mechanism as every week. Keep it to ~1 minute, then move to the identification poll.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Drop Crystal's 'Notable Figures' composite (unlabeled) + the Ch. 8 Berkeley photos on this slide. The 7 live MC questions: Bush, Terman, Shockley, Rock, Ann Hardy, Felsenstein, Savio. Answer key: 1-B Bush=ran WWII federal R&amp;D; 2-C Terman=Stanford Research Park; 3-D Shockley=first silicon lab 1956; 4-A Rock=financed the Eight, chaired Intel; 5-B Hardy=time-sharing at Tymshare; 6-C Felsenstein=Homebrew + Osborne 1; 7-B Savio=Free Speech Movement 1964.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 out Bush + Terman as the evidence that the Valley was never 'self-made' or libertarian.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Fund structure and the 'good VC' checklist are deliberately left out. Focus: why VC exists, the SBIC as government scaffolding, the diversity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'explain it as a story' slide — four beats: setting → fusion → political legacy → paradox. Extra color: Stewart Brand's Whole Earth Catalog ('access to tools'; 'stay hungry, stay foolish'); Google hiring Eric Schmidt partly because he was a 'Burner.'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Kept per your note; legal half now carries the equity/conflict-of-interest detail and the non-compete → job-hopping chain from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photo slots. Context line ties her to pillar 1. Gloss #1: employment as dignity, rooted in her father's Depression-era patients; AI already cutting entry-level hiring. Gloss #2: wary of tariffs (raise prices, hit allies); prefers US+Europe coordination + industrial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9692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CADCFC"/>
                </a:solidFill>
                <a:latin typeface="Calibri"/>
              </a:rPr>
              <a:t>POLECON 156</a:t>
            </a:r>
          </a:p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Silicon Valley and the Global Economy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1" y="3639312"/>
            <a:ext cx="1737360" cy="54864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9692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Discussion Section · Week 2 — History of Silicon Valley (Part I): Review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Silvia Díaz de Rada · Section GSI · Fall 2026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894B3"/>
                </a:solidFill>
                <a:latin typeface="Calibri"/>
              </a:rPr>
              <a:t>DIS 101  Fri 10:00 · 106 Dwinelle        DIS 102  Fri 11:00 · 333 UAB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 dirty="0">
                <a:solidFill>
                  <a:srgbClr val="1E2761"/>
                </a:solidFill>
                <a:latin typeface="Cambria"/>
              </a:rPr>
              <a:t>What we covered 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9564189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5B6472"/>
                </a:solidFill>
                <a:latin typeface="Calibri"/>
              </a:rPr>
              <a:t>We traced how the region emerged — from orchards to a federally funded research-and-defense economy.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i="0" noProof="0" dirty="0">
                <a:solidFill>
                  <a:srgbClr val="5B6472"/>
                </a:solidFill>
                <a:latin typeface="Calibri"/>
              </a:rPr>
              <a:t>We put names to the story — the people who built the region and the institutions behind them.</a:t>
            </a:r>
          </a:p>
          <a:p>
            <a:pPr marL="285750" indent="-28575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i="0" noProof="0" dirty="0">
                <a:solidFill>
                  <a:srgbClr val="5B6472"/>
                </a:solidFill>
                <a:latin typeface="Calibri"/>
              </a:rPr>
              <a:t>We mapped the unique factors that shaped Silicon Valley and why it’s difficult to find these somewhere else</a:t>
            </a:r>
          </a:p>
          <a:p>
            <a:pPr marL="285750" indent="-28575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i="0" noProof="0" dirty="0">
                <a:solidFill>
                  <a:srgbClr val="5B6472"/>
                </a:solidFill>
                <a:latin typeface="Calibri"/>
              </a:rPr>
              <a:t>We examined Silicon Valley's less flattering side — structural inequality, the lack of diversity, self-reinforcing advantage, and the gap between the Valley's founding myths and its history.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5B6472"/>
                </a:solidFill>
                <a:latin typeface="Calibri"/>
              </a:rPr>
              <a:t>We connected the 1960s Bay Area counterculture to the birth of the personal computer.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01 · The five pillars that made Silicon Valley — and keep it competitive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02 · How the Valley emerged, and what </a:t>
            </a:r>
            <a:r>
              <a:rPr lang="en-US" sz="1600" b="0" i="0" dirty="0">
                <a:solidFill>
                  <a:srgbClr val="5B6472"/>
                </a:solidFill>
                <a:latin typeface="Calibri"/>
              </a:rPr>
              <a:t>made </a:t>
            </a:r>
            <a:r>
              <a:rPr sz="1600" b="0" i="0" dirty="0">
                <a:solidFill>
                  <a:srgbClr val="5B6472"/>
                </a:solidFill>
                <a:latin typeface="Calibri"/>
              </a:rPr>
              <a:t>Stanford different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03 · Written reflection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04 · Who is this? — Poll Everywhere </a:t>
            </a:r>
            <a:r>
              <a:rPr lang="es-ES" sz="1600" b="0" i="0" dirty="0" err="1">
                <a:solidFill>
                  <a:srgbClr val="5B6472"/>
                </a:solidFill>
                <a:latin typeface="Calibri"/>
              </a:rPr>
              <a:t>activity</a:t>
            </a:r>
            <a:endParaRPr sz="1600" b="0" i="0" dirty="0">
              <a:solidFill>
                <a:srgbClr val="5B6472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05 · Venture capital: why it mattered, and why it stayed closed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06 · The counterculture thread · immigrants and the legal system · Janet Yellen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ADCFC"/>
                </a:solidFill>
                <a:latin typeface="Calibri"/>
              </a:rPr>
              <a:t>POLECON 156 · WEEK 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326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What are the five pillars we identified in class that shaped Silicon Valley — and keep it competitive over the long term?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00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CADCFC"/>
                </a:solidFill>
                <a:latin typeface="Calibri"/>
              </a:rPr>
              <a:t>Take 30 seconds. Then we build the list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Cambria"/>
              </a:rPr>
              <a:t>The five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607040" cy="4380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i="0" dirty="0">
                <a:solidFill>
                  <a:srgbClr val="1E2761"/>
                </a:solidFill>
                <a:latin typeface="Calibri"/>
              </a:rPr>
              <a:t>1 · The state / government policy  </a:t>
            </a:r>
            <a:r>
              <a:rPr b="0" i="0" dirty="0">
                <a:solidFill>
                  <a:srgbClr val="5B6472"/>
                </a:solidFill>
                <a:latin typeface="Calibri"/>
              </a:rPr>
              <a:t>War and great-power competition have driven US innovation for 80 years. Federal and military money — WWII, the Cold War, Vannevar Bush's push for permanent research funding, Sputnik → NASA / ARPA / NDEA — built the foundation. In 1958, ~80% of Fairchild's business was government contracts.</a:t>
            </a:r>
          </a:p>
          <a:p>
            <a:pPr>
              <a:spcAft>
                <a:spcPts val="800"/>
              </a:spcAft>
            </a:pPr>
            <a:r>
              <a:rPr b="1" i="0" dirty="0">
                <a:solidFill>
                  <a:srgbClr val="1E2761"/>
                </a:solidFill>
                <a:latin typeface="Calibri"/>
              </a:rPr>
              <a:t>2 · Research universities  </a:t>
            </a:r>
            <a:r>
              <a:rPr b="0" i="0" dirty="0">
                <a:solidFill>
                  <a:srgbClr val="5B6472"/>
                </a:solidFill>
                <a:latin typeface="Calibri"/>
              </a:rPr>
              <a:t>They supply the people. Stanford above all — Terman's applied-engineering culture, the Research Park, the faculty–student–industry loop — plus Berkeley, San José State, UCSF (biotech), Santa Clara (law).</a:t>
            </a:r>
          </a:p>
          <a:p>
            <a:pPr>
              <a:spcAft>
                <a:spcPts val="800"/>
              </a:spcAft>
            </a:pPr>
            <a:r>
              <a:rPr b="1" i="0" dirty="0">
                <a:solidFill>
                  <a:srgbClr val="1E2761"/>
                </a:solidFill>
                <a:latin typeface="Calibri"/>
              </a:rPr>
              <a:t>3 · Venture capital  </a:t>
            </a:r>
            <a:r>
              <a:rPr b="0" i="0" dirty="0">
                <a:solidFill>
                  <a:srgbClr val="5B6472"/>
                </a:solidFill>
                <a:latin typeface="Calibri"/>
              </a:rPr>
              <a:t>Funding for ventures banks would never touch. Georges Doriot (1946), then the federal SBIC program (1958) that leveraged private risk capital, then the Valley's own firms from 1959. Decisive — but an insular network.</a:t>
            </a:r>
          </a:p>
          <a:p>
            <a:pPr>
              <a:spcAft>
                <a:spcPts val="800"/>
              </a:spcAft>
            </a:pPr>
            <a:r>
              <a:rPr b="1" i="0" dirty="0">
                <a:solidFill>
                  <a:srgbClr val="1E2761"/>
                </a:solidFill>
                <a:latin typeface="Calibri"/>
              </a:rPr>
              <a:t>4 · Immigrants  </a:t>
            </a:r>
            <a:r>
              <a:rPr b="0" i="0" dirty="0">
                <a:solidFill>
                  <a:srgbClr val="5B6472"/>
                </a:solidFill>
                <a:latin typeface="Calibri"/>
              </a:rPr>
              <a:t>~25% of US high-tech firms had an immigrant founder; ~40% of Valley firms by the internet era; ~44% of Bay Area residents are foreign-born. Berkeley and Stanford are the main pipelines.</a:t>
            </a:r>
          </a:p>
          <a:p>
            <a:pPr>
              <a:spcAft>
                <a:spcPts val="800"/>
              </a:spcAft>
            </a:pPr>
            <a:r>
              <a:rPr b="1" i="0" dirty="0">
                <a:solidFill>
                  <a:srgbClr val="1E2761"/>
                </a:solidFill>
                <a:latin typeface="Calibri"/>
              </a:rPr>
              <a:t>5 · The legal system  </a:t>
            </a:r>
            <a:r>
              <a:rPr b="0" i="0" dirty="0">
                <a:solidFill>
                  <a:srgbClr val="5B6472"/>
                </a:solidFill>
                <a:latin typeface="Calibri"/>
              </a:rPr>
              <a:t>Valley law firms took equity instead of fees and built the scaffolding — incorporation, term sheets, M&amp;A, IPOs. California's refusal to enforce non-competes keeps talent moving.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72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8894B3"/>
                </a:solidFill>
                <a:latin typeface="Calibri"/>
              </a:rPr>
              <a:t>Running through all five: a transversal counterculture / anti-establishment ethos (see later).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How Silicon Valley emerged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11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Before the war it was orchards — the “Valley of Heart's Delight” — with a small radio-and-electronics cluster (Federal Telegraph; Hewlett-Packard, 1939).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World War II changed the scale. Vannevar Bush's Office of Scientific Research and Development poured federal money into university labs; Stanford's Fred Terman ran a wartime research lab and returned determined to tie Stanford to defense work.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The Cold War kept the money flowing — microwave, electronics, missiles. Lockheed Missiles &amp; Space moved to Sunnyvale in 1956 and was the Valley's largest employer for decades.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Semiconductors spun out of that ecosystem: Shockley (1956) → Fairchild (1957) → Intel (1968). In 1958, ~80% of Fairchild's revenue came from government contracts.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Sputnik (1957) triggered another surge — NASA, ARPA, and the National Defense Education Act (1958): money for space, and for universities.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It was never insulated from politics or the business cycle. Defense budgets and the tech stock market rise and fall together — Washington shifts or a recession hits, the Valley lays off and grants dry up, then it booms on the next wave (chips → PCs → internet → AI). O'Mara calls this “boom and bust.”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ADCFC"/>
                </a:solidFill>
                <a:latin typeface="Calibri"/>
              </a:rPr>
              <a:t>POLECON 156 · WEEK 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326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What did Stanford do that an ordinary research university would not?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00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CADCFC"/>
                </a:solidFill>
                <a:latin typeface="Calibri"/>
              </a:rPr>
              <a:t>One answer each — then we'll piece it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What made Stanford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b="0" i="0" dirty="0">
                <a:solidFill>
                  <a:srgbClr val="5B6472"/>
                </a:solidFill>
                <a:latin typeface="Calibri"/>
              </a:rPr>
              <a:t>•  Land it could not sell. Stanford held a large endowment of land it was barred from selling; Fred Terman's answer was to lease it — </a:t>
            </a:r>
            <a:r>
              <a:rPr b="1" i="0" dirty="0">
                <a:solidFill>
                  <a:srgbClr val="5B6472"/>
                </a:solidFill>
                <a:latin typeface="Calibri"/>
              </a:rPr>
              <a:t>creating Stanford Research Park (1951), </a:t>
            </a:r>
            <a:r>
              <a:rPr b="0" i="0" dirty="0">
                <a:solidFill>
                  <a:srgbClr val="5B6472"/>
                </a:solidFill>
                <a:latin typeface="Calibri"/>
              </a:rPr>
              <a:t>the first university-owned industrial park.</a:t>
            </a:r>
          </a:p>
          <a:p>
            <a:pPr algn="l">
              <a:spcAft>
                <a:spcPts val="900"/>
              </a:spcAft>
            </a:pPr>
            <a:r>
              <a:rPr b="1" i="0" dirty="0">
                <a:solidFill>
                  <a:srgbClr val="5B6472"/>
                </a:solidFill>
                <a:latin typeface="Calibri"/>
              </a:rPr>
              <a:t>•  Proximity became collaboration.</a:t>
            </a:r>
            <a:r>
              <a:rPr b="0" i="0" dirty="0">
                <a:solidFill>
                  <a:srgbClr val="5B6472"/>
                </a:solidFill>
                <a:latin typeface="Calibri"/>
              </a:rPr>
              <a:t> Putting technology firms next to campus created a working loop: companies recruited students, hired faculty as consultants, funded research, and spun out of Stanford labs. Terman had already done this in miniature with Hewlett and Packard.</a:t>
            </a:r>
          </a:p>
          <a:p>
            <a:pPr algn="l">
              <a:spcAft>
                <a:spcPts val="900"/>
              </a:spcAft>
            </a:pPr>
            <a:r>
              <a:rPr b="0" i="0" dirty="0">
                <a:solidFill>
                  <a:srgbClr val="5B6472"/>
                </a:solidFill>
                <a:latin typeface="Calibri"/>
              </a:rPr>
              <a:t>•  </a:t>
            </a:r>
            <a:r>
              <a:rPr b="1" i="0" dirty="0">
                <a:solidFill>
                  <a:srgbClr val="5B6472"/>
                </a:solidFill>
                <a:latin typeface="Calibri"/>
              </a:rPr>
              <a:t>A deliberate tilt toward industry and the military</a:t>
            </a:r>
            <a:r>
              <a:rPr b="0" i="0" dirty="0">
                <a:solidFill>
                  <a:srgbClr val="5B6472"/>
                </a:solidFill>
                <a:latin typeface="Calibri"/>
              </a:rPr>
              <a:t>. Terman moved the university's resources into science and engineering and built an applied-engineering culture explicitly to serve the military-industrial complex — where most universities kept industry at arm's length</a:t>
            </a:r>
            <a:r>
              <a:rPr sz="1600" b="0" i="0" dirty="0">
                <a:solidFill>
                  <a:srgbClr val="5B647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Written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548640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 dirty="0">
                <a:solidFill>
                  <a:srgbClr val="C9822B"/>
                </a:solidFill>
                <a:latin typeface="Calibri"/>
              </a:rPr>
              <a:t>TODAY'S PROMPT</a:t>
            </a:r>
          </a:p>
          <a:p>
            <a:pPr algn="l">
              <a:spcAft>
                <a:spcPts val="1000"/>
              </a:spcAft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Why was the venture capital industry so critical to Silicon Valley's rise?</a:t>
            </a:r>
          </a:p>
          <a:p>
            <a:pPr algn="l">
              <a:spcAft>
                <a:spcPts val="1000"/>
              </a:spcAft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And, according to the first three chapters of The Code, what was the first “venture capitalist” entity in Silicon Valley?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754880" cy="4480560"/>
          </a:xfrm>
          <a:prstGeom prst="roundRect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19456" rIns="256032" rtlCol="0" anchor="t"/>
          <a:lstStyle/>
          <a:p>
            <a:pPr algn="l">
              <a:spcAft>
                <a:spcPts val="1200"/>
              </a:spcAft>
            </a:pPr>
            <a:r>
              <a:rPr sz="2000" b="1" i="0" dirty="0">
                <a:solidFill>
                  <a:srgbClr val="FDB515"/>
                </a:solidFill>
                <a:latin typeface="Calibri"/>
              </a:rPr>
              <a:t>Instructions</a:t>
            </a:r>
          </a:p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lang="es-ES" sz="1600" b="1" i="0" dirty="0">
                <a:solidFill>
                  <a:srgbClr val="FFFFFF"/>
                </a:solidFill>
                <a:latin typeface="Calibri"/>
              </a:rPr>
              <a:t>7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minutes</a:t>
            </a:r>
            <a:r>
              <a:rPr lang="es-ES"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ES" sz="1600" i="0" dirty="0">
                <a:solidFill>
                  <a:srgbClr val="FFFFFF"/>
                </a:solidFill>
                <a:latin typeface="Calibri"/>
              </a:rPr>
              <a:t>(+2 </a:t>
            </a:r>
            <a:r>
              <a:rPr lang="es-ES" sz="1600" i="0" dirty="0" err="1">
                <a:solidFill>
                  <a:srgbClr val="FFFFFF"/>
                </a:solidFill>
                <a:latin typeface="Calibri"/>
              </a:rPr>
              <a:t>to</a:t>
            </a:r>
            <a:r>
              <a:rPr lang="es-ES" sz="1600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ES" sz="1600" i="0" dirty="0" err="1">
                <a:solidFill>
                  <a:srgbClr val="FFFFFF"/>
                </a:solidFill>
                <a:latin typeface="Calibri"/>
              </a:rPr>
              <a:t>upload</a:t>
            </a:r>
            <a:r>
              <a:rPr lang="es-ES" sz="1600" i="0" dirty="0">
                <a:solidFill>
                  <a:srgbClr val="FFFFFF"/>
                </a:solidFill>
                <a:latin typeface="Calibri"/>
              </a:rPr>
              <a:t>)</a:t>
            </a:r>
            <a:endParaRPr sz="1600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600" b="0" i="0" dirty="0">
                <a:solidFill>
                  <a:srgbClr val="FFFFFF"/>
                </a:solidFill>
                <a:latin typeface="Calibri"/>
              </a:rPr>
              <a:t>•  Handwritten in your spiral notebook — </a:t>
            </a:r>
            <a:r>
              <a:rPr sz="1600" b="1" i="0" dirty="0">
                <a:solidFill>
                  <a:srgbClr val="FFFF00"/>
                </a:solidFill>
                <a:latin typeface="Calibri"/>
              </a:rPr>
              <a:t>no devices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,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open-book.</a:t>
            </a:r>
          </a:p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•  One short paragraph per question — </a:t>
            </a:r>
            <a:r>
              <a:rPr sz="1600" b="1" i="0" dirty="0">
                <a:solidFill>
                  <a:srgbClr val="FFFF00"/>
                </a:solidFill>
                <a:latin typeface="Calibri"/>
              </a:rPr>
              <a:t>BOTH answers on the SAME single page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600" b="0" i="0" dirty="0">
                <a:solidFill>
                  <a:srgbClr val="FFFFFF"/>
                </a:solidFill>
                <a:latin typeface="Calibri"/>
              </a:rPr>
              <a:t>•  When you're done, take a photo and upload it to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bCourses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under this week's reflection.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Open Poll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dirty="0">
                <a:solidFill>
                  <a:srgbClr val="5B6472"/>
                </a:solidFill>
                <a:latin typeface="Calibri"/>
              </a:rPr>
              <a:t>On your phone or laptop, go to:</a:t>
            </a:r>
          </a:p>
          <a:p>
            <a:pPr algn="l">
              <a:spcAft>
                <a:spcPts val="1400"/>
              </a:spcAft>
            </a:pPr>
            <a:r>
              <a:rPr sz="3000" b="1" i="0" dirty="0" err="1">
                <a:solidFill>
                  <a:srgbClr val="1E2761"/>
                </a:solidFill>
                <a:latin typeface="Cambria"/>
              </a:rPr>
              <a:t>PollEv.com</a:t>
            </a:r>
            <a:r>
              <a:rPr sz="3000" b="1" i="0" dirty="0">
                <a:solidFill>
                  <a:srgbClr val="1E2761"/>
                </a:solidFill>
                <a:latin typeface="Cambria"/>
              </a:rPr>
              <a:t>/pe156silviaddr</a:t>
            </a: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5B6472"/>
                </a:solidFill>
                <a:latin typeface="Calibri"/>
              </a:rPr>
              <a:t>Your response = today's attendance</a:t>
            </a:r>
            <a:endParaRPr lang="es-ES" sz="1400" b="0" i="0" dirty="0">
              <a:solidFill>
                <a:srgbClr val="5B6472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200" b="0" i="0" dirty="0">
                <a:solidFill>
                  <a:srgbClr val="8894B3"/>
                </a:solidFill>
                <a:latin typeface="Calibri"/>
              </a:rPr>
              <a:t>Notice a discrepancy in your Poll Everywhere points? Flag it with me within 48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86400"/>
            <a:ext cx="10424160" cy="822960"/>
          </a:xfrm>
          <a:prstGeom prst="round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41B47"/>
                </a:solidFill>
                <a:latin typeface="Calibri"/>
              </a:rPr>
              <a:t>Today's poll is an identification round — “Who is this?” — coming up next.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Who is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C9822B"/>
                </a:solidFill>
                <a:latin typeface="Calibri"/>
              </a:rPr>
              <a:t>EARLY FIGURES &amp; THE MONEY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1 · Vannevar Bush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2 · Georges Doriot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3 · Fred Terman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4 · Bill Hewlett &amp; Dave Packard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5 · Ann Hardy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6 · William Shockley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7 · The “Traitorous Eight”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8 · Arthur Rock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9 · Andy Grove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C9822B"/>
                </a:solidFill>
                <a:latin typeface="Calibri"/>
              </a:rPr>
              <a:t>BERKELEY &amp; THE COUNTERCULTURE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10 · Lee Felsenstein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11 · Pam Hardt-English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12 · Mario Savio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13 · Clark Kerr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532120"/>
            <a:ext cx="10424160" cy="8229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PollEv.com/pe156silviaddr   ·   multiple-choice: “[name] was known for…”   ·   7 of these run live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Cambria"/>
              </a:rPr>
              <a:t>Who's who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440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 dirty="0">
                <a:solidFill>
                  <a:srgbClr val="1E2761"/>
                </a:solidFill>
                <a:latin typeface="Calibri"/>
              </a:rPr>
              <a:t>Vannevar Bush — </a:t>
            </a:r>
            <a:r>
              <a:rPr sz="1100" b="0" i="0" dirty="0">
                <a:solidFill>
                  <a:srgbClr val="5B6472"/>
                </a:solidFill>
                <a:latin typeface="Calibri"/>
              </a:rPr>
              <a:t>Ran WWII federal R&amp;D; “Science, the Endless Frontier” (1945) → permanent federal science funding.</a:t>
            </a:r>
          </a:p>
          <a:p>
            <a:pPr>
              <a:spcAft>
                <a:spcPts val="600"/>
              </a:spcAft>
            </a:pPr>
            <a:r>
              <a:rPr sz="1100" b="1" i="0" dirty="0">
                <a:solidFill>
                  <a:srgbClr val="1E2761"/>
                </a:solidFill>
                <a:latin typeface="Calibri"/>
              </a:rPr>
              <a:t>Georges Doriot — </a:t>
            </a:r>
            <a:r>
              <a:rPr sz="1100" b="0" i="0" dirty="0">
                <a:solidFill>
                  <a:srgbClr val="5B6472"/>
                </a:solidFill>
                <a:latin typeface="Calibri"/>
              </a:rPr>
              <a:t>The first venture capitalist — Harvard Business School professor; ARDC (1946); funded DEC.</a:t>
            </a:r>
          </a:p>
          <a:p>
            <a:pPr>
              <a:spcAft>
                <a:spcPts val="600"/>
              </a:spcAft>
            </a:pPr>
            <a:r>
              <a:rPr sz="1100" b="1" i="0" dirty="0">
                <a:solidFill>
                  <a:srgbClr val="1E2761"/>
                </a:solidFill>
                <a:latin typeface="Calibri"/>
              </a:rPr>
              <a:t>Fred Terman — </a:t>
            </a:r>
            <a:r>
              <a:rPr sz="1100" b="0" i="0" dirty="0">
                <a:solidFill>
                  <a:srgbClr val="5B6472"/>
                </a:solidFill>
                <a:latin typeface="Calibri"/>
              </a:rPr>
              <a:t>“Father of Silicon Valley”; brought the MIT military/industry model to Stanford; built the Research Park.</a:t>
            </a:r>
          </a:p>
          <a:p>
            <a:pPr>
              <a:spcAft>
                <a:spcPts val="600"/>
              </a:spcAft>
            </a:pPr>
            <a:r>
              <a:rPr sz="1100" b="1" i="0" dirty="0">
                <a:solidFill>
                  <a:srgbClr val="1E2761"/>
                </a:solidFill>
                <a:latin typeface="Calibri"/>
              </a:rPr>
              <a:t>Hewlett &amp; Packard — </a:t>
            </a:r>
            <a:r>
              <a:rPr sz="1100" b="0" i="0" dirty="0">
                <a:solidFill>
                  <a:srgbClr val="5B6472"/>
                </a:solidFill>
                <a:latin typeface="Calibri"/>
              </a:rPr>
              <a:t>Terman's students; founded HP in a Palo Alto garage (1939).</a:t>
            </a:r>
          </a:p>
          <a:p>
            <a:pPr>
              <a:spcAft>
                <a:spcPts val="600"/>
              </a:spcAft>
            </a:pPr>
            <a:r>
              <a:rPr sz="1100" b="1" i="0" dirty="0">
                <a:solidFill>
                  <a:srgbClr val="1E2761"/>
                </a:solidFill>
                <a:latin typeface="Calibri"/>
              </a:rPr>
              <a:t>Ann Hardy — </a:t>
            </a:r>
            <a:r>
              <a:rPr sz="1100" b="0" i="0" dirty="0">
                <a:solidFill>
                  <a:srgbClr val="5B6472"/>
                </a:solidFill>
                <a:latin typeface="Calibri"/>
              </a:rPr>
              <a:t>Built commercial nationwide time-sharing at Tymshare; underpaid and overlooked.</a:t>
            </a:r>
          </a:p>
          <a:p>
            <a:pPr>
              <a:spcAft>
                <a:spcPts val="600"/>
              </a:spcAft>
            </a:pPr>
            <a:r>
              <a:rPr sz="1100" b="1" i="0" dirty="0">
                <a:solidFill>
                  <a:srgbClr val="1E2761"/>
                </a:solidFill>
                <a:latin typeface="Calibri"/>
              </a:rPr>
              <a:t>William Shockley — </a:t>
            </a:r>
            <a:r>
              <a:rPr sz="1100" b="0" i="0" dirty="0">
                <a:solidFill>
                  <a:srgbClr val="5B6472"/>
                </a:solidFill>
                <a:latin typeface="Calibri"/>
              </a:rPr>
              <a:t>Co-invented the transistor (Nobel 1956); Shockley Semiconductor (1956) brought silicon to the Valley.</a:t>
            </a:r>
          </a:p>
          <a:p>
            <a:pPr>
              <a:spcAft>
                <a:spcPts val="600"/>
              </a:spcAft>
            </a:pPr>
            <a:r>
              <a:rPr sz="1100" b="1" i="0" dirty="0">
                <a:solidFill>
                  <a:srgbClr val="1E2761"/>
                </a:solidFill>
                <a:latin typeface="Calibri"/>
              </a:rPr>
              <a:t>The “Traitorous Eight” — </a:t>
            </a:r>
            <a:r>
              <a:rPr sz="1100" b="0" i="0" dirty="0">
                <a:solidFill>
                  <a:srgbClr val="5B6472"/>
                </a:solidFill>
                <a:latin typeface="Calibri"/>
              </a:rPr>
              <a:t>Quit Shockley in 1957 → Fairchild. Incl. Noyce, Moore, Kleiner. “</a:t>
            </a:r>
            <a:r>
              <a:rPr sz="1100" b="0" i="0" dirty="0" err="1">
                <a:solidFill>
                  <a:srgbClr val="5B6472"/>
                </a:solidFill>
                <a:latin typeface="Calibri"/>
              </a:rPr>
              <a:t>Fairchildren</a:t>
            </a:r>
            <a:r>
              <a:rPr sz="1100" b="0" i="0" dirty="0">
                <a:solidFill>
                  <a:srgbClr val="5B6472"/>
                </a:solidFill>
                <a:latin typeface="Calibri"/>
              </a:rPr>
              <a:t>” seeded the Valley.</a:t>
            </a:r>
          </a:p>
          <a:p>
            <a:pPr>
              <a:spcAft>
                <a:spcPts val="600"/>
              </a:spcAft>
            </a:pPr>
            <a:r>
              <a:rPr sz="1100" b="1" i="0" dirty="0">
                <a:solidFill>
                  <a:srgbClr val="1E2761"/>
                </a:solidFill>
                <a:latin typeface="Calibri"/>
              </a:rPr>
              <a:t>Arthur Rock — </a:t>
            </a:r>
            <a:r>
              <a:rPr sz="1100" b="0" i="0" dirty="0">
                <a:solidFill>
                  <a:srgbClr val="5B6472"/>
                </a:solidFill>
                <a:latin typeface="Calibri"/>
              </a:rPr>
              <a:t>Financed the Eight's move; made “venture capitalist” a job title; funded and chaired Intel.</a:t>
            </a:r>
          </a:p>
          <a:p>
            <a:pPr>
              <a:spcAft>
                <a:spcPts val="600"/>
              </a:spcAft>
            </a:pPr>
            <a:r>
              <a:rPr sz="1100" b="1" i="0" dirty="0">
                <a:solidFill>
                  <a:srgbClr val="1E2761"/>
                </a:solidFill>
                <a:latin typeface="Calibri"/>
              </a:rPr>
              <a:t>Andy Grove — </a:t>
            </a:r>
            <a:r>
              <a:rPr sz="1100" b="0" i="0" dirty="0">
                <a:solidFill>
                  <a:srgbClr val="5B6472"/>
                </a:solidFill>
                <a:latin typeface="Calibri"/>
              </a:rPr>
              <a:t>Hungarian refugee; Intel #3, later CEO; chips as “high-tech jelly beans.”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Lee Felsenstein — </a:t>
            </a:r>
            <a:r>
              <a:rPr sz="1100" b="0" i="0">
                <a:solidFill>
                  <a:srgbClr val="5B6472"/>
                </a:solidFill>
                <a:latin typeface="Calibri"/>
              </a:rPr>
              <a:t>Cal EECS; MC of the Homebrew Computer Club; designed the Osborne 1, the first mass-produced portable.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Pam Hardt-English — </a:t>
            </a:r>
            <a:r>
              <a:rPr sz="1100" b="0" i="0">
                <a:solidFill>
                  <a:srgbClr val="5B6472"/>
                </a:solidFill>
                <a:latin typeface="Calibri"/>
              </a:rPr>
              <a:t>Cal CS dropout; led Community Memory — a public computer terminal in a Berkeley record store.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Mario Savio — </a:t>
            </a:r>
            <a:r>
              <a:rPr sz="1100" b="0" i="0">
                <a:solidFill>
                  <a:srgbClr val="5B6472"/>
                </a:solidFill>
                <a:latin typeface="Calibri"/>
              </a:rPr>
              <a:t>Leader of the Berkeley Free Speech Movement (1964); the “bodies upon the gears” speech.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Clark Kerr — </a:t>
            </a:r>
            <a:r>
              <a:rPr sz="1100" b="0" i="0">
                <a:solidFill>
                  <a:srgbClr val="5B6472"/>
                </a:solidFill>
                <a:latin typeface="Calibri"/>
              </a:rPr>
              <a:t>UC President; 1960 California Master Plan; fired by the Regents in 1967 after Reagan's election.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9257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 dirty="0">
                <a:solidFill>
                  <a:srgbClr val="1E2761"/>
                </a:solidFill>
                <a:latin typeface="Cambria"/>
              </a:rPr>
              <a:t>Venture capital — why it mattered, and why it stayed closed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en-US" sz="1500" b="0" i="0" dirty="0">
                <a:solidFill>
                  <a:srgbClr val="5B6472"/>
                </a:solidFill>
                <a:latin typeface="Calibri"/>
              </a:rPr>
              <a:t>•  </a:t>
            </a:r>
            <a:r>
              <a:rPr lang="en-US" sz="1500" b="1" i="0" dirty="0">
                <a:solidFill>
                  <a:srgbClr val="5B6472"/>
                </a:solidFill>
                <a:latin typeface="Calibri"/>
              </a:rPr>
              <a:t>It financed the un-financeable</a:t>
            </a:r>
            <a:r>
              <a:rPr sz="1500" b="0" i="0" dirty="0">
                <a:solidFill>
                  <a:srgbClr val="5B6472"/>
                </a:solidFill>
                <a:latin typeface="Calibri"/>
              </a:rPr>
              <a:t>. A bank wants collateral and steady repayment; a startup has neither. Venture capital put in equity, took a board seat, and absorbed the loss when a company failed — which made funding high-risk ventures possible at all.</a:t>
            </a:r>
          </a:p>
          <a:p>
            <a:pPr algn="l">
              <a:spcAft>
                <a:spcPts val="900"/>
              </a:spcAft>
            </a:pPr>
            <a:r>
              <a:rPr sz="1500" b="0" i="0" dirty="0">
                <a:solidFill>
                  <a:srgbClr val="5B6472"/>
                </a:solidFill>
                <a:latin typeface="Calibri"/>
              </a:rPr>
              <a:t>•  The government primed the pump — the SBIC. The 1958 Small Business Investment Act created the Small Business Investment Company program: the federal government licensed private investment funds and leveraged them, lending roughly $2–$3 of low-cost government money for every $1 of private capital. It multiplied the early risk-capital pool and seeded the Valley's first firms (Draper, Gaither &amp; Anderson, 1959).</a:t>
            </a:r>
          </a:p>
          <a:p>
            <a:pPr algn="l">
              <a:spcAft>
                <a:spcPts val="900"/>
              </a:spcAft>
            </a:pPr>
            <a:r>
              <a:rPr sz="1500" b="0" i="0" dirty="0">
                <a:solidFill>
                  <a:srgbClr val="5B6472"/>
                </a:solidFill>
                <a:latin typeface="Calibri"/>
              </a:rPr>
              <a:t>•  But it became a closed circle. Venture capital is still an insular “old-boys network.” Many partners are former founders who back people like themselves; talent is evenly distributed, opportunity is not. Some rise in East and South Asian representation — very few Latino or Black investors. Who hears about a deal, and who gets the introduction, still favors insiders.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669280"/>
            <a:ext cx="10424160" cy="7772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John Doerr, on “pattern recognition” (O'Mara, p. 75): backing “white male nerds who dropped out of Harvard or Stanford and have no social life.”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counterculture thread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3639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The setting. In the 1960s the Bay Area was the center of the American counterculture — the Berkeley Free Speech Movement (1964), anti-Vietnam protest, Haight-Ashbury, communes, a deep distrust of big institutions: government, the military, and corporations like IBM.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The fusion. That looks opposed to a Valley living on defense contracts — but the two merged. A generation of engineers and dropouts applied the counterculture's “power to the people” politics to computing: take the machine out of the institution and hand it to the individual, and it becomes a tool of personal liberation. Engelbart's 1968 demo (augmenting human intellect); Felsenstein and Hardt-English's Community Memory (a public terminal in a record store); the Homebrew Computer Club trading schematics for free; Atari's irreverent workplace; Steve Jobs on LSD, India and Zen.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The political legacy. Reagan ran for governor in 1966 against “the mess at Berkeley,” won, and ended tuition-free UC — fees, then tuition (now ~$17K plus fees).</a:t>
            </a:r>
          </a:p>
          <a:p>
            <a:pPr algn="l">
              <a:spcAft>
                <a:spcPts val="9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The paradox. That rebel, anti-establishment ethos became the self-image and the marketing of what is now one of the most powerful, concentrated industries on earth. The “disruptor” story survived the companies becoming giants — which is why it runs through every era, from Homebrew to “move fast and break things” to Burning Man.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Immigrants and the legal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394960" cy="42062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59" y="1943100"/>
            <a:ext cx="4493623" cy="367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C9822B"/>
                </a:solidFill>
                <a:latin typeface="Calibri"/>
              </a:rPr>
              <a:t>THE LEGAL SYSTEM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•  Valley firms took equity instead of fees from cash-poor startups — the same risk mindset as a VC, and skin in the founder's game.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•  They built the scaffolding: incorporation, bylaws, hiring contracts, term sheets, M&amp;A, IPOs. Wall Street firms couldn't adapt; Valley-native firms (Wilson Sonsini — Larry Sonsini, Cal grad) still dominate.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•  Conflict of interest is built in — the same firm may draft the term sheet for the investors across the table. “If there's no conflict, there's no interest.”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•  California won't enforce non-competes (full ban since 2024; still enforceable in New York) → engineers job-hop → ideas and talent cross-pollinate → more dynamic than Boston's Route 128.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783080"/>
            <a:ext cx="4892040" cy="42062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763" y="1943100"/>
            <a:ext cx="4035939" cy="2598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C9822B"/>
                </a:solidFill>
                <a:latin typeface="Calibri"/>
              </a:rPr>
              <a:t>IMMIGRANTS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•  ~25% of US high-tech firms had an immigrant founder; ~40% of Valley firms by the internet era.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•  ~44% of Bay Area residents are foreign-born; ~38% of AI engineers are Chinese-born.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•  Berkeley and Stanford are the main talent pipelines; fully-funded STEM PhDs draw top talent on merit.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•  The vulnerability: tightening student visas and work authorization directly benefits China's AI sector.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6172200"/>
            <a:ext cx="10424160" cy="5486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Closing question: does the Valley's reliance on immigrant founders make it stronger, or more vulnerable, as a global tech leader?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JANET YELLEN AT BERKELEY  ·  “LEADING AT THE EDGE”  ·  SEPT 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 dirty="0">
                <a:solidFill>
                  <a:srgbClr val="CADCFC"/>
                </a:solidFill>
                <a:latin typeface="Calibri"/>
              </a:rPr>
              <a:t>Berkeley Haas professor emerita (1980–94); Chair of the Federal Reserve, then U.S. Treasury Secretary. Her whole career is about the state's role in the economy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1">
                <a:solidFill>
                  <a:srgbClr val="FFFFFF"/>
                </a:solidFill>
                <a:latin typeface="Cambria"/>
              </a:rPr>
              <a:t>“A job isn't just a paycheck — it's self-respect. My aim has always been an economy where people feel secure that they can find work and keep it.”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CADCFC"/>
                </a:solidFill>
                <a:latin typeface="Cambria"/>
              </a:rPr>
              <a:t>“Put tariffs on our allies and it makes little sense — but if the US and Europe act together, we have real leverage against China.”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6E0397-4E61-3FE6-E2E6-DA6CBDB3F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029" y="1435648"/>
            <a:ext cx="2469202" cy="16481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39DA79-B1EB-2073-4338-DC9431006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187" y="1454332"/>
            <a:ext cx="2469201" cy="164613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F55EB8B-D4FE-A2A8-663B-F0F54F69A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5952" y="1435646"/>
            <a:ext cx="2469204" cy="16481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9660B3D-D7D4-0AF7-BB2D-56067830AC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2108" y="1435648"/>
            <a:ext cx="2469201" cy="16481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8894B3"/>
                </a:solidFill>
                <a:latin typeface="Calibri"/>
              </a:rPr>
              <a:t>POLECON 156 · DISCUSSION SECTION — WEEK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41248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894B3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394960" cy="42062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493776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 dirty="0">
                <a:solidFill>
                  <a:srgbClr val="C9822B"/>
                </a:solidFill>
                <a:latin typeface="Calibri"/>
              </a:rPr>
              <a:t>THE FIVE PILLARS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The state — military and federal money seeded it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Universities — Stanford's model supplied the people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Venture capital — financed the un-financeable, then closed ranks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Immigrants — a growing share of every founding cohort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5B6472"/>
                </a:solidFill>
                <a:latin typeface="Calibri"/>
              </a:rPr>
              <a:t>•  The legal system — equity-taking firms, no non-competes</a:t>
            </a:r>
          </a:p>
          <a:p>
            <a:pPr algn="l">
              <a:spcAft>
                <a:spcPts val="600"/>
              </a:spcAft>
            </a:pPr>
            <a:r>
              <a:rPr sz="1400" b="0" i="1" dirty="0">
                <a:solidFill>
                  <a:srgbClr val="8894B3"/>
                </a:solidFill>
                <a:latin typeface="Calibri"/>
              </a:rPr>
              <a:t>…and a counterculture ethos running through all five.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783080"/>
            <a:ext cx="4892040" cy="42062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965960"/>
            <a:ext cx="4434840" cy="251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C9822B"/>
                </a:solidFill>
                <a:latin typeface="Calibri"/>
              </a:rPr>
              <a:t>BEFORE YOU GO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Upload your reflection to bCourses — one single page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Attendance = your Poll Everywhere response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One free discretionary absence — email in advance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Devices away unless told otherwise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Next week: Apple, Microsoft, Steve Jobs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4158</TotalTime>
  <Words>3014</Words>
  <Application>Microsoft Macintosh PowerPoint</Application>
  <PresentationFormat>Widescreen</PresentationFormat>
  <Paragraphs>169</Paragraphs>
  <Slides>17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Silvia Díaz de Rada Goñi</cp:lastModifiedBy>
  <cp:revision>3</cp:revision>
  <dcterms:created xsi:type="dcterms:W3CDTF">2013-01-27T09:14:16Z</dcterms:created>
  <dcterms:modified xsi:type="dcterms:W3CDTF">2026-09-07T01:49:21Z</dcterms:modified>
  <cp:category/>
</cp:coreProperties>
</file>