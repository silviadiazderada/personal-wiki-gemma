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977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Week 3 section pivots from lecture review to the team project — with the focus on the founder interview. Order: reflection → project big picture → teams → picking the startup → the interview → start outreach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Graded randomly, 4 pts (2 quality, 2 thoughtfulness). Q1 target: VLSI standardized chip design and split design from manufacturing, so MITI-backed Japanese firms could learn the process and compete. Q2 targets: SEMATECH (DARPA + 14 chip firms), DARPA's $1B Strategic Computing Initiative, the 1986 US–Japan Semiconductor Agreement. China parallel: CHIPS Act + export controls — keep it factual, not partisan.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the interview is a graded checkpoint AND a practice run for Demo Day. The startup you pick now is the one whose founder you'll try to interview — so picking early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Rules are from Crystal's Week 3 'Housekeeping' slide (she added the SF/East Bay geography and a16z Speedrun; the syllabus only said SkyDeck + YC). Link the shared Google Sheet on the slide before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Put the real clickable links in before class. YC directory is the fastest to filter by geography + stage; SkyDeck is the Berkeley-native option and easiest for landing a founder interview.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Full sign-up URL (also put it in bCourses / the section doc):</a:t>
            </a:r>
          </a:p>
          <a:p>
            <a:r>
              <a:t>https://login-prod.morningstar.com/authorize?client_id=rYC0OUxH4iWNcmzOjupB8zRstukeevrR&amp;redirect_uri=https://my.pitchbook.com/auth0/sso-callback&amp;scope=email%20openid&amp;response_type=code&amp;source=bus0155_PITCHBOOK&amp;connection=SAML-SP-PB-UCBERKELEYLIBRARYSTUDENTS</a:t>
            </a:r>
          </a:p>
          <a:p>
            <a:endParaRPr/>
          </a:p>
          <a:p>
            <a:r>
              <a:t>The row-export limit is real — students who violate it lose access permanently. Frame Pitchbook as *research*, which the course AI policy allows; using AI to compose slides is not allowed. Library guide 'Investment Screening with PitchBook' has step-by-steps for screening recent VC deals. A separate deeper tutorial for you is coming.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From the syllabus + the Team Interview assignment text. It's explicitly 'a practice run for Demo Day.' Equal speaking time and the 7-minute hard stop are graded — they must rehearse.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slide Crystal's suggestion really points at — get them moving on outreach immediately, because the interview presentation is only ~6 weeks out and founder scheduling is the bottleneck.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Encourage at least one question tied to their specific startup / industry, not just generic founder questions — it shows they did the research and it feeds the pitch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the last 5 minutes for team-forming logistics /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login-prod.morningstar.com/authorize?client_id=rYC0OUxH4iWNcmzOjupB8zRstukeevrR&amp;redirect_uri=https://my.pitchbook.com/auth0/sso-callback&amp;scope=email%20openid&amp;response_type=code&amp;source=bus0155_PITCHBOOK&amp;connection=SAML-SP-PB-UCBERKELEYLIBRARYSTUDENTS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9692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CADCFC"/>
                </a:solidFill>
                <a:latin typeface="Calibri"/>
              </a:rPr>
              <a:t>POLECON 156</a:t>
            </a:r>
          </a:p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Silicon Valley and the Global Economy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1" y="3611880"/>
            <a:ext cx="1737360" cy="54864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3840480"/>
            <a:ext cx="9875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 i="0">
                <a:solidFill>
                  <a:srgbClr val="CADCFC"/>
                </a:solidFill>
                <a:latin typeface="Calibri"/>
              </a:rPr>
              <a:t>Discussion Section · Week 3 — The Team Start-Up Competition &amp; the Founder Interview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Silvia Díaz de Rada · Section GSI · Fall 2026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8894B3"/>
                </a:solidFill>
                <a:latin typeface="Calibri"/>
              </a:rPr>
              <a:t>DIS 102 · Fri 10:00–11:00        DIS 101 · Fri 11:00–12:00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8894B3"/>
                </a:solidFill>
                <a:latin typeface="Calibri"/>
              </a:rPr>
              <a:t>POLECON 156 · DISCUSSION SECTION — WEEK 3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96112"/>
            <a:ext cx="1371600" cy="5029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987552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Written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8894B3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C9822B"/>
                </a:solidFill>
                <a:latin typeface="Calibri"/>
              </a:rPr>
              <a:t>TODAY'S PROMPT</a:t>
            </a:r>
          </a:p>
          <a:p>
            <a:pPr algn="l">
              <a:spcAft>
                <a:spcPts val="1200"/>
              </a:spcAft>
            </a:pPr>
            <a:r>
              <a:rPr sz="1900" b="1" i="0">
                <a:solidFill>
                  <a:srgbClr val="1E2761"/>
                </a:solidFill>
                <a:latin typeface="Calibri"/>
              </a:rPr>
              <a:t>1.  Why was Japan's rise in the electronics industry a “wake-up call” for Silicon Valley in the 1980s?</a:t>
            </a:r>
          </a:p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1E2761"/>
                </a:solidFill>
                <a:latin typeface="Calibri"/>
              </a:rPr>
              <a:t>2.  How did the U.S. government respond — and was its response protectionism, industrial policy, or both?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691640"/>
            <a:ext cx="4709160" cy="4480560"/>
          </a:xfrm>
          <a:prstGeom prst="roundRect">
            <a:avLst/>
          </a:prstGeom>
          <a:solidFill>
            <a:srgbClr val="141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19456" rIns="256032" rtlCol="0" anchor="ctr"/>
          <a:lstStyle/>
          <a:p>
            <a:pPr algn="l">
              <a:spcAft>
                <a:spcPts val="1200"/>
              </a:spcAft>
            </a:pPr>
            <a:r>
              <a:rPr sz="1700" b="1" i="0">
                <a:solidFill>
                  <a:srgbClr val="FDB515"/>
                </a:solidFill>
                <a:latin typeface="Calibri"/>
              </a:rPr>
              <a:t>Instructions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•  7 minutes (+2 to upload)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Handwritten in your spiral notebook — no devices, open-book (The Code + Course Reader OK).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•  A short paragraph per question — the whole reflection on ONE page.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Take a screenshot and upload it to bCourses under Week 3 Reflection.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8894B3"/>
                </a:solidFill>
                <a:latin typeface="Calibri"/>
              </a:rPr>
              <a:t>POLECON 156 · DISCUSSION SECTION — WEEK 3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96112"/>
            <a:ext cx="1371600" cy="5029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987552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The Team Start-Up Competition — the big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8894B3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•  In teams of 3–4 you adopt a real early-stage startup, research it, interview its founder, and pitch it at Demo Day. Worth 20% of the course grade (plus the interview, 5%).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•  The arc: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5B6472"/>
                </a:solidFill>
                <a:latin typeface="Calibri"/>
              </a:rPr>
              <a:t>        –  Pick your startup  →  Start-Up Proposal (Team Lead, Google Form) due 10/11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5B6472"/>
                </a:solidFill>
                <a:latin typeface="Calibri"/>
              </a:rPr>
              <a:t>        –  Founder interview + 3-slide presentation  ·  present 10/27–10/30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5B6472"/>
                </a:solidFill>
                <a:latin typeface="Calibri"/>
              </a:rPr>
              <a:t>        –  Pitch-deck draft to Prof. Chang  ·  early November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5B6472"/>
                </a:solidFill>
                <a:latin typeface="Calibri"/>
              </a:rPr>
              <a:t>        –  Demo Days 11/13, 11/17, 11/19, 11/20  →  Final Competition 12/1  →  Reflection 12/4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•  Four roles, chosen by consensus: Team Lead · Industry Lead · Finance Lead (your Pitchbook expert) · Marketing &amp; Tech Lead.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•  Today: lock a shortlist, choose your startup, and start reaching out to the founder.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8894B3"/>
                </a:solidFill>
                <a:latin typeface="Calibri"/>
              </a:rPr>
              <a:t>POLECON 156 · DISCUSSION SECTION — WEEK 3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96112"/>
            <a:ext cx="1371600" cy="5029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987552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Step 1 — pick your startup: the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8894B3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5B6472"/>
                </a:solidFill>
                <a:latin typeface="Calibri"/>
              </a:rPr>
              <a:t>•  Choose through CONSENSUS. Prof. Chang calls this “the most important decision” — take your time and pick something you're genuinely excited about.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5B6472"/>
                </a:solidFill>
                <a:latin typeface="Calibri"/>
              </a:rPr>
              <a:t>•  It must be:  pre–Series A  ·  founded in Silicon Valley (SF / East Bay)  ·  no more than 3 years old  ·  seed funding only.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5B6472"/>
                </a:solidFill>
                <a:latin typeface="Calibri"/>
              </a:rPr>
              <a:t>•  Find it through:  Y Combinator  ·  Berkeley SkyDeck  ·  a16z Speedrun  (and verify details in Pitchbook).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5B6472"/>
                </a:solidFill>
                <a:latin typeface="Calibri"/>
              </a:rPr>
              <a:t>•  Claim it in the shared Google Sheet — one team per company, first come, first served.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5B6472"/>
                </a:solidFill>
                <a:latin typeface="Calibri"/>
              </a:rPr>
              <a:t>•  A real, exciting company makes the interview, the pitch deck, and Demo Day far easier.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8894B3"/>
                </a:solidFill>
                <a:latin typeface="Calibri"/>
              </a:rPr>
              <a:t>POLECON 156 · DISCUSSION SECTION — WEEK 3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96112"/>
            <a:ext cx="1371600" cy="5029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987552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Where to find startups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8894B3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1E2761"/>
                </a:solidFill>
                <a:latin typeface="Calibri"/>
              </a:rPr>
              <a:t>Y Combinator — company directory  —  </a:t>
            </a:r>
            <a:r>
              <a:rPr sz="1600" b="1" i="0">
                <a:solidFill>
                  <a:srgbClr val="C9822B"/>
                </a:solidFill>
                <a:latin typeface="Calibri"/>
              </a:rPr>
              <a:t>ycombinator.com/companies</a:t>
            </a:r>
          </a:p>
          <a:p>
            <a:pPr>
              <a:spcAft>
                <a:spcPts val="1400"/>
              </a:spcAft>
            </a:pPr>
            <a:r>
              <a:rPr sz="1400" b="0" i="0">
                <a:solidFill>
                  <a:srgbClr val="5B6472"/>
                </a:solidFill>
                <a:latin typeface="Calibri"/>
              </a:rPr>
              <a:t>      filter by Status = Active, Batch = recent, Industry, and Location = SF Bay Area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E2761"/>
                </a:solidFill>
                <a:latin typeface="Calibri"/>
              </a:rPr>
              <a:t>Berkeley SkyDeck — portfolio  —  </a:t>
            </a:r>
            <a:r>
              <a:rPr sz="1600" b="1" i="0">
                <a:solidFill>
                  <a:srgbClr val="C9822B"/>
                </a:solidFill>
                <a:latin typeface="Calibri"/>
              </a:rPr>
              <a:t>skydeck.berkeley.edu/portfolio</a:t>
            </a:r>
          </a:p>
          <a:p>
            <a:pPr>
              <a:spcAft>
                <a:spcPts val="1400"/>
              </a:spcAft>
            </a:pPr>
            <a:r>
              <a:rPr sz="1400" b="0" i="0">
                <a:solidFill>
                  <a:srgbClr val="5B6472"/>
                </a:solidFill>
                <a:latin typeface="Calibri"/>
              </a:rPr>
              <a:t>      Berkeley-affiliated founders; look at the current Batch and Pad-13 cohorts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E2761"/>
                </a:solidFill>
                <a:latin typeface="Calibri"/>
              </a:rPr>
              <a:t>a16z Speedrun  —  </a:t>
            </a:r>
            <a:r>
              <a:rPr sz="1600" b="1" i="0">
                <a:solidFill>
                  <a:srgbClr val="C9822B"/>
                </a:solidFill>
                <a:latin typeface="Calibri"/>
              </a:rPr>
              <a:t>a16z.com/speedrun</a:t>
            </a:r>
          </a:p>
          <a:p>
            <a:pPr>
              <a:spcAft>
                <a:spcPts val="1400"/>
              </a:spcAft>
            </a:pPr>
            <a:r>
              <a:rPr sz="1400" b="0" i="0">
                <a:solidFill>
                  <a:srgbClr val="5B6472"/>
                </a:solidFill>
                <a:latin typeface="Calibri"/>
              </a:rPr>
              <a:t>      games, consumer, and AI startups backed by Andreessen Horowitz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E2761"/>
                </a:solidFill>
                <a:latin typeface="Calibri"/>
              </a:rPr>
              <a:t>Pitchbook  —  </a:t>
            </a:r>
            <a:r>
              <a:rPr sz="1600" b="1" i="0">
                <a:solidFill>
                  <a:srgbClr val="C9822B"/>
                </a:solidFill>
                <a:latin typeface="Calibri"/>
              </a:rPr>
              <a:t>library.berkeley.edu → databases → Pitchbook</a:t>
            </a:r>
          </a:p>
          <a:p>
            <a:pPr>
              <a:spcAft>
                <a:spcPts val="1400"/>
              </a:spcAft>
            </a:pPr>
            <a:r>
              <a:rPr sz="1400" b="0" i="0">
                <a:solidFill>
                  <a:srgbClr val="5B6472"/>
                </a:solidFill>
                <a:latin typeface="Calibri"/>
              </a:rPr>
              <a:t>      use it to confirm stage, age, and HQ — and later for funding comparables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8894B3"/>
                </a:solidFill>
                <a:latin typeface="Calibri"/>
              </a:rPr>
              <a:t>POLECON 156 · DISCUSSION SECTION — WEEK 3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96112"/>
            <a:ext cx="1371600" cy="5029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987552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Pitchbook — how to sign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8894B3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5943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C9822B"/>
                </a:solidFill>
                <a:latin typeface="Calibri"/>
              </a:rPr>
              <a:t>FIRST-TIME SIGN-UP  (~2 min, once)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1.  Open the Berkeley Pitchbook sign-up link (below / in bCourses).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2.  It redirects to CalNet — sign in with your @berkeley.edu.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3.  First time only: confirm your name + Berkeley email to create your individual Pitchbook account.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4.  After that, log in any time at my.pitchbook.com.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Sign-up link  →  </a:t>
            </a:r>
            <a:r>
              <a:rPr sz="1400" b="1" i="0">
                <a:solidFill>
                  <a:srgbClr val="C9822B"/>
                </a:solidFill>
                <a:latin typeface="Calibri"/>
                <a:hlinkClick r:id="rId3"/>
              </a:rPr>
              <a:t>login-prod.morningstar.com  (UC Berkeley Library Students SSO)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691640"/>
            <a:ext cx="4297680" cy="4480560"/>
          </a:xfrm>
          <a:prstGeom prst="roundRect">
            <a:avLst/>
          </a:prstGeom>
          <a:solidFill>
            <a:srgbClr val="141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01168" rIns="237744" rtlCol="0" anchor="ctr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DB515"/>
                </a:solidFill>
                <a:latin typeface="Calibri"/>
              </a:rPr>
              <a:t>Account limits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 Enrolled UCB students / faculty / staff only</a:t>
            </a:r>
          </a:p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•  Export ≤ 10 rows/day and ≤ 25 rows/month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 No scraping / text data mining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 Violating these = access removed for good — screenshot the few facts you need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DB515"/>
                </a:solidFill>
                <a:latin typeface="Calibri"/>
              </a:rPr>
              <a:t>Help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Haas Library — haasref-library@berkeley.edu; book a librarian (Nadia / Rachel). Guide: “Investment Screening with PitchBook.”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532120"/>
            <a:ext cx="10424160" cy="8686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Use it NOW to confirm your pick: last round = Seed (no Series A) · founded ≤ 3 yrs ago · HQ in the Bay Area.   Later: the Finance Lead uses it for the Series A comparables.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8894B3"/>
                </a:solidFill>
                <a:latin typeface="Calibri"/>
              </a:rPr>
              <a:t>POLECON 156 · DISCUSSION SECTION — WEEK 3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96112"/>
            <a:ext cx="1371600" cy="5029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987552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The founder interview — what it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8894B3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•  Best case: you interview the FOUNDER of the startup you picked. If that doesn't work out, interview anyone working in Silicon Valley tech or a tech-adjacent role.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•  30–60 minutes, on Zoom or in person. EVERY team member must be on the call.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•  Take a screenshot with all members visible — it has to appear on your slides for full credit.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•  Come with 4–5 core questions (one per member) plus a few backups. One person moderates the flow; one takes notes.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•  Deliverable: 3 slides, a 5–7 minute presentation with equal speaking time. Slides due ~10/18; presentations 10/27–10/30. Worth 5%.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8894B3"/>
                </a:solidFill>
                <a:latin typeface="Calibri"/>
              </a:rPr>
              <a:t>POLECON 156 · DISCUSSION SECTION — WEEK 3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96112"/>
            <a:ext cx="1371600" cy="5029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987552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Start the outreach now — don't wait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8894B3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•  Founders are busy. A reply can take 2–3 weeks, and plenty never answer — line up a backup person early.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•  Sequencing:  shortlist this week  →  claim + Proposal by 10/11  →  email founders  →  interview in mid-October.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•  How to reach them: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5B6472"/>
                </a:solidFill>
                <a:latin typeface="Calibri"/>
              </a:rPr>
              <a:t>        –  SkyDeck company pages, and ask SkyDeck staff / Prof. Chang for an intro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5B6472"/>
                </a:solidFill>
                <a:latin typeface="Calibri"/>
              </a:rPr>
              <a:t>        –  LinkedIn — connect with a short, specific note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5B6472"/>
                </a:solidFill>
                <a:latin typeface="Calibri"/>
              </a:rPr>
              <a:t>        –  The YC company page → founder profiles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5B6472"/>
                </a:solidFill>
                <a:latin typeface="Calibri"/>
              </a:rPr>
              <a:t>        –  Berkeley network — alumni, the PE LinkedIn group, your own contacts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•  Keep the email professional: who you are, the class, why them specifically, 30–45 min on Zoom, two proposed times, all team members' names. Ask for written consent if you'll record.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8894B3"/>
                </a:solidFill>
                <a:latin typeface="Calibri"/>
              </a:rPr>
              <a:t>POLECON 156 · DISCUSSION SECTION — WEEK 3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96112"/>
            <a:ext cx="1371600" cy="5029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987552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What to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8894B3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5B6472"/>
                </a:solidFill>
                <a:latin typeface="Calibri"/>
              </a:rPr>
              <a:t>•  Decide as a team: what do you most want to learn about Silicon Valley? Then make the questions your own.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5B6472"/>
                </a:solidFill>
                <a:latin typeface="Calibri"/>
              </a:rPr>
              <a:t>•  Starting points (from the syllabus):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5B6472"/>
                </a:solidFill>
                <a:latin typeface="Calibri"/>
              </a:rPr>
              <a:t>        –  How did Berkeley — or the Berkeley ecosystem — help you build this company?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5B6472"/>
                </a:solidFill>
                <a:latin typeface="Calibri"/>
              </a:rPr>
              <a:t>        –  Can you walk us through your fundraising process? What is it like to pitch investors?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5B6472"/>
                </a:solidFill>
                <a:latin typeface="Calibri"/>
              </a:rPr>
              <a:t>        –  What have been the most challenging and the most rewarding parts of founding a company?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5B6472"/>
                </a:solidFill>
                <a:latin typeface="Calibri"/>
              </a:rPr>
              <a:t>        –  What do you think makes a startup succeed?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5B6472"/>
                </a:solidFill>
                <a:latin typeface="Calibri"/>
              </a:rPr>
              <a:t>•  Each member asks at least one question. Assign a moderator and a notetaker before the call.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8894B3"/>
                </a:solidFill>
                <a:latin typeface="Calibri"/>
              </a:rPr>
              <a:t>POLECON 156 · DISCUSSION SECTION — WEEK 3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96112"/>
            <a:ext cx="1371600" cy="5029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987552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8894B3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5B6472"/>
                </a:solidFill>
                <a:latin typeface="Calibri"/>
              </a:rPr>
              <a:t>•  Upload your Week 3 reflection to bCourses — one page.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5B6472"/>
                </a:solidFill>
                <a:latin typeface="Calibri"/>
              </a:rPr>
              <a:t>•  As a team: shortlist 2–3 startups, meet, choose one by consensus, and claim it in the shared Google Sheet.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5B6472"/>
                </a:solidFill>
                <a:latin typeface="Calibri"/>
              </a:rPr>
              <a:t>•  Team Lead: start the Start-Up Proposal Google Form (due 11pm Sunday 10/11).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5B6472"/>
                </a:solidFill>
                <a:latin typeface="Calibri"/>
              </a:rPr>
              <a:t>•  Draft your founder-interview email and send the first requests.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5B6472"/>
                </a:solidFill>
                <a:latin typeface="Calibri"/>
              </a:rPr>
              <a:t>•  Questions on teams, roles, or eligibility → email me or come to office hours.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2022</Words>
  <Application>Microsoft Macintosh PowerPoint</Application>
  <PresentationFormat>Widescreen</PresentationFormat>
  <Paragraphs>153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Silvia Díaz de Rada Goñi</cp:lastModifiedBy>
  <cp:revision>1</cp:revision>
  <dcterms:created xsi:type="dcterms:W3CDTF">2013-01-27T09:14:16Z</dcterms:created>
  <dcterms:modified xsi:type="dcterms:W3CDTF">2026-09-11T19:01:03Z</dcterms:modified>
  <cp:category/>
</cp:coreProperties>
</file>